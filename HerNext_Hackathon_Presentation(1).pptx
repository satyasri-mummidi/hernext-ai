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8"/>
    <p:sldId id="258" r:id="rId9"/>
    <p:sldId id="259" r:id="rId10"/>
    <p:sldId id="260" r:id="rId11"/>
    <p:sldId id="261" r:id="rId12"/>
    <p:sldId id="262" r:id="rId13"/>
    <p:sldId id="263" r:id="rId14"/>
    <p:sldId id="264" r:id="rId7"/>
    <p:sldId id="265" r:id="rId6"/>
    <p:sldId id="266" r:id="rId5"/>
    <p:sldId id="267" r:id="rId4"/>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6" d="100"/>
          <a:sy n="76" d="100"/>
        </p:scale>
        <p:origin x="27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4" Type="http://schemas.openxmlformats.org/officeDocument/2006/relationships/slide" Target="slides/slide12.xml"/><Relationship Id="rId5" Type="http://schemas.openxmlformats.org/officeDocument/2006/relationships/slide" Target="slides/slide11.xml"/><Relationship Id="rId6" Type="http://schemas.openxmlformats.org/officeDocument/2006/relationships/slide" Target="slides/slide10.xml"/><Relationship Id="rId7" Type="http://schemas.openxmlformats.org/officeDocument/2006/relationships/slide" Target="slides/slide9.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8CC6D-50A1-49D7-BBD9-F4711328188F}"/>
              </a:ext>
            </a:extLst>
          </p:cNvPr>
          <p:cNvSpPr>
            <a:spLocks noGrp="1"/>
          </p:cNvSpPr>
          <p:nvPr>
            <p:ph type="ctrTitle"/>
          </p:nvPr>
        </p:nvSpPr>
        <p:spPr>
          <a:xfrm>
            <a:off x="1524000" y="1122363"/>
            <a:ext cx="9144000" cy="2387600"/>
          </a:xfrm>
        </p:spPr>
        <p:txBody>
          <a:bodyPr anchor="b"/>
          <a:lstStyle>
            <a:lvl1pPr algn="ctr">
              <a:buNone/>
              <a:defRPr sz="6000"/>
            </a:lvl1pPr>
          </a:lstStyle>
          <a:p>
            <a:r>
              <a:t>Click to edit Master title style</a:t>
            </a:r>
          </a:p>
        </p:txBody>
      </p:sp>
      <p:sp>
        <p:nvSpPr>
          <p:cNvPr id="3" name="Subtitle 2">
            <a:extLst>
              <a:ext uri="{FF2B5EF4-FFF2-40B4-BE49-F238E27FC236}">
                <a16:creationId xmlns:a16="http://schemas.microsoft.com/office/drawing/2014/main" id="{8C51B2BD-BA92-4CD9-99F9-3C7ABBA1A03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a:extLst>
              <a:ext uri="{FF2B5EF4-FFF2-40B4-BE49-F238E27FC236}">
                <a16:creationId xmlns:a16="http://schemas.microsoft.com/office/drawing/2014/main" id="{AB17ECFC-EC7D-4E8E-99F8-ECE492703615}"/>
              </a:ext>
            </a:extLst>
          </p:cNvPr>
          <p:cNvSpPr>
            <a:spLocks noGrp="1"/>
          </p:cNvSpPr>
          <p:nvPr>
            <p:ph type="dt" idx="10"/>
          </p:nvPr>
        </p:nvSpPr>
        <p:spPr/>
        <p:txBody>
          <a:bodyPr/>
          <a:lstStyle/>
          <a:p>
            <a:fld id="{03A87349-D367-405F-AAC1-86F7777154E3}" type="datetimeFigureOut">
              <a:t>8/5/2026</a:t>
            </a:fld>
            <a:endParaRPr/>
          </a:p>
        </p:txBody>
      </p:sp>
      <p:sp>
        <p:nvSpPr>
          <p:cNvPr id="5" name="Footer Placeholder 4">
            <a:extLst>
              <a:ext uri="{FF2B5EF4-FFF2-40B4-BE49-F238E27FC236}">
                <a16:creationId xmlns:a16="http://schemas.microsoft.com/office/drawing/2014/main" id="{C2F74C7A-F264-4F6E-8257-55F177B0032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B17835B8-F670-478D-9FC6-8D536FBA03AA}"/>
              </a:ext>
            </a:extLst>
          </p:cNvPr>
          <p:cNvSpPr>
            <a:spLocks noGrp="1"/>
          </p:cNvSpPr>
          <p:nvPr>
            <p:ph type="sldNum" idx="12"/>
          </p:nvPr>
        </p:nvSpPr>
        <p:spPr/>
        <p:txBody>
          <a:bodyPr/>
          <a:lstStyle/>
          <a:p>
            <a:fld id="{DA55874D-83D6-46FB-8AC2-1B761C2F1260}"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Shape 0">
            <a:extLst>
              <a:ext uri="{FF2B5EF4-FFF2-40B4-BE49-F238E27FC236}">
                <a16:creationId xmlns:a16="http://schemas.microsoft.com/office/drawing/2014/main" id="{9604FB96-A152-47DE-BF94-7FC2A5DC7B7F}"/>
              </a:ext>
            </a:extLst>
          </p:cNvPr>
          <p:cNvSpPr>
            <a:spLocks noGrp="1"/>
          </p:cNvSpPr>
          <p:nvPr/>
        </p:nvSpPr>
        <p:spPr>
          <a:xfrm>
            <a:off x="0" y="0"/>
            <a:ext cx="12192000" cy="1005840"/>
          </a:xfrm>
          <a:prstGeom prst="rect">
            <a:avLst/>
          </a:prstGeom>
          <a:solidFill>
            <a:schemeClr val="accent1">
              <a:lumMod val="60000"/>
              <a:lumOff val="40000"/>
            </a:schemeClr>
          </a:solidFill>
          <a:ln w="12700">
            <a:solidFill>
              <a:srgbClr val="7C3AED"/>
            </a:solidFill>
            <a:prstDash val="solid"/>
          </a:ln>
        </p:spPr>
        <p:txBody>
          <a:bodyPr/>
          <a:lstStyle/>
          <a:p>
            <a:endParaRPr/>
          </a:p>
        </p:txBody>
      </p:sp>
      <p:sp>
        <p:nvSpPr>
          <p:cNvPr id="2" name="Title 1">
            <a:extLst>
              <a:ext uri="{FF2B5EF4-FFF2-40B4-BE49-F238E27FC236}">
                <a16:creationId xmlns:a16="http://schemas.microsoft.com/office/drawing/2014/main" id="{6BDFC40F-B2E2-4A57-9EDB-F2CB4A3376D8}"/>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F79BC4B6-E822-4A04-BA4E-FF09FE6B0FA3}"/>
              </a:ext>
            </a:extLst>
          </p:cNvPr>
          <p:cNvSpPr>
            <a:spLocks noGrp="1"/>
          </p:cNvSpPr>
          <p:nvPr>
            <p:ph idx="1"/>
          </p:nvPr>
        </p:nvSpPr>
        <p:spPr/>
        <p:txBody>
          <a:bodyPr/>
          <a:lstStyle/>
          <a:p>
            <a:pPr>
              <a:buNone/>
            </a:pPr>
            <a:r>
              <a:t>Edit Master text styles</a:t>
            </a:r>
          </a:p>
          <a:p>
            <a:pPr>
              <a:buNone/>
            </a:pPr>
            <a:r>
              <a:t>Second level</a:t>
            </a:r>
          </a:p>
          <a:p>
            <a:pPr>
              <a:buNone/>
            </a:pPr>
            <a:r>
              <a:t>Third level</a:t>
            </a:r>
          </a:p>
          <a:p>
            <a:pPr>
              <a:buNone/>
            </a:pPr>
            <a:r>
              <a:t>Fourth level</a:t>
            </a:r>
          </a:p>
          <a:p>
            <a:pPr>
              <a:buNone/>
            </a:pPr>
            <a:r>
              <a:t>Fifth level</a:t>
            </a:r>
          </a:p>
        </p:txBody>
      </p:sp>
      <p:sp>
        <p:nvSpPr>
          <p:cNvPr id="4" name="Date Placeholder 3">
            <a:extLst>
              <a:ext uri="{FF2B5EF4-FFF2-40B4-BE49-F238E27FC236}">
                <a16:creationId xmlns:a16="http://schemas.microsoft.com/office/drawing/2014/main" id="{D64D735A-2D1C-4151-861E-06F6A75095D9}"/>
              </a:ext>
            </a:extLst>
          </p:cNvPr>
          <p:cNvSpPr>
            <a:spLocks noGrp="1"/>
          </p:cNvSpPr>
          <p:nvPr>
            <p:ph type="dt" idx="10"/>
          </p:nvPr>
        </p:nvSpPr>
        <p:spPr/>
        <p:txBody>
          <a:bodyPr/>
          <a:lstStyle/>
          <a:p>
            <a:fld id="{03A87349-D367-405F-AAC1-86F7777154E3}" type="datetimeFigureOut">
              <a:t>8/5/2026</a:t>
            </a:fld>
            <a:endParaRPr/>
          </a:p>
        </p:txBody>
      </p:sp>
      <p:sp>
        <p:nvSpPr>
          <p:cNvPr id="5" name="Footer Placeholder 4">
            <a:extLst>
              <a:ext uri="{FF2B5EF4-FFF2-40B4-BE49-F238E27FC236}">
                <a16:creationId xmlns:a16="http://schemas.microsoft.com/office/drawing/2014/main" id="{F5F85F9A-4B50-4C54-8698-3C528E92876D}"/>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394B209D-E867-4909-A2CB-F1F46C95C9D9}"/>
              </a:ext>
            </a:extLst>
          </p:cNvPr>
          <p:cNvSpPr>
            <a:spLocks noGrp="1"/>
          </p:cNvSpPr>
          <p:nvPr>
            <p:ph type="sldNum" idx="12"/>
          </p:nvPr>
        </p:nvSpPr>
        <p:spPr/>
        <p:txBody>
          <a:bodyPr/>
          <a:lstStyle/>
          <a:p>
            <a:fld id="{DA55874D-83D6-46FB-8AC2-1B761C2F1260}" type="slidenum">
              <a:t>‹#›</a:t>
            </a:fld>
            <a:endParaRPr/>
          </a:p>
        </p:txBody>
      </p:sp>
      <p:pic>
        <p:nvPicPr>
          <p:cNvPr id="13" name="Picture 7"/>
          <p:cNvPicPr>
            <a:picLocks noChangeAspect="1"/>
          </p:cNvPicPr>
          <p:nvPr/>
        </p:nvPicPr>
        <p:blipFill>
          <a:blip r:embed="rId2"/>
          <a:stretch>
            <a:fillRect/>
          </a:stretch>
        </p:blipFill>
        <p:spPr>
          <a:xfrm>
            <a:off x="389580" y="256848"/>
            <a:ext cx="1145133" cy="361341"/>
          </a:xfrm>
          <a:prstGeom prst="rect">
            <a:avLst/>
          </a:prstGeom>
        </p:spPr>
      </p:pic>
      <p:pic>
        <p:nvPicPr>
          <p:cNvPr id="14" name="Picture 8"/>
          <p:cNvPicPr>
            <a:picLocks noChangeAspect="1"/>
          </p:cNvPicPr>
          <p:nvPr/>
        </p:nvPicPr>
        <p:blipFill>
          <a:blip r:embed="rId3"/>
          <a:stretch>
            <a:fillRect/>
          </a:stretch>
        </p:blipFill>
        <p:spPr>
          <a:xfrm>
            <a:off x="10909657" y="206187"/>
            <a:ext cx="863243" cy="41200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4AC8C-FF2E-4C4C-B215-5B86E26EF179}"/>
              </a:ext>
            </a:extLst>
          </p:cNvPr>
          <p:cNvSpPr>
            <a:spLocks noGrp="1"/>
          </p:cNvSpPr>
          <p:nvPr>
            <p:ph type="title"/>
          </p:nvPr>
        </p:nvSpPr>
        <p:spPr>
          <a:xfrm>
            <a:off x="831850" y="1709738"/>
            <a:ext cx="10515600" cy="2852737"/>
          </a:xfrm>
        </p:spPr>
        <p:txBody>
          <a:bodyPr anchor="b"/>
          <a:lstStyle>
            <a:lvl1pPr>
              <a:buNone/>
              <a:defRPr sz="6000"/>
            </a:lvl1pPr>
          </a:lstStyle>
          <a:p>
            <a:r>
              <a:t>Click to edit Master title style</a:t>
            </a:r>
          </a:p>
        </p:txBody>
      </p:sp>
      <p:sp>
        <p:nvSpPr>
          <p:cNvPr id="3" name="Text Placeholder 2">
            <a:extLst>
              <a:ext uri="{FF2B5EF4-FFF2-40B4-BE49-F238E27FC236}">
                <a16:creationId xmlns:a16="http://schemas.microsoft.com/office/drawing/2014/main" id="{912953D1-4E4E-4D7F-873E-B066E268AD0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a:buNone/>
            </a:pPr>
            <a:r>
              <a:t>Edit Master text styles</a:t>
            </a:r>
          </a:p>
        </p:txBody>
      </p:sp>
      <p:sp>
        <p:nvSpPr>
          <p:cNvPr id="4" name="Date Placeholder 3">
            <a:extLst>
              <a:ext uri="{FF2B5EF4-FFF2-40B4-BE49-F238E27FC236}">
                <a16:creationId xmlns:a16="http://schemas.microsoft.com/office/drawing/2014/main" id="{67DB8CD9-40F6-425E-8918-DF68E870F7F3}"/>
              </a:ext>
            </a:extLst>
          </p:cNvPr>
          <p:cNvSpPr>
            <a:spLocks noGrp="1"/>
          </p:cNvSpPr>
          <p:nvPr>
            <p:ph type="dt" idx="10"/>
          </p:nvPr>
        </p:nvSpPr>
        <p:spPr/>
        <p:txBody>
          <a:bodyPr/>
          <a:lstStyle/>
          <a:p>
            <a:fld id="{03A87349-D367-405F-AAC1-86F7777154E3}" type="datetimeFigureOut">
              <a:t>8/5/2026</a:t>
            </a:fld>
            <a:endParaRPr/>
          </a:p>
        </p:txBody>
      </p:sp>
      <p:sp>
        <p:nvSpPr>
          <p:cNvPr id="5" name="Footer Placeholder 4">
            <a:extLst>
              <a:ext uri="{FF2B5EF4-FFF2-40B4-BE49-F238E27FC236}">
                <a16:creationId xmlns:a16="http://schemas.microsoft.com/office/drawing/2014/main" id="{A6E1225A-CDED-48C1-A066-07749C385692}"/>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476F76DD-18EE-4A31-970C-4D8F4E76C581}"/>
              </a:ext>
            </a:extLst>
          </p:cNvPr>
          <p:cNvSpPr>
            <a:spLocks noGrp="1"/>
          </p:cNvSpPr>
          <p:nvPr>
            <p:ph type="sldNum" idx="12"/>
          </p:nvPr>
        </p:nvSpPr>
        <p:spPr/>
        <p:txBody>
          <a:bodyPr/>
          <a:lstStyle/>
          <a:p>
            <a:fld id="{DA55874D-83D6-46FB-8AC2-1B761C2F1260}"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AED2A-3583-4292-9435-B0D3E7E91642}"/>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857C7A9E-9FAD-4D08-A9E1-4BA532546E19}"/>
              </a:ext>
            </a:extLst>
          </p:cNvPr>
          <p:cNvSpPr>
            <a:spLocks noGrp="1"/>
          </p:cNvSpPr>
          <p:nvPr>
            <p:ph idx="1"/>
          </p:nvPr>
        </p:nvSpPr>
        <p:spPr>
          <a:xfrm>
            <a:off x="838200" y="1825625"/>
            <a:ext cx="5181600" cy="4351338"/>
          </a:xfrm>
        </p:spPr>
        <p:txBody>
          <a:bodyPr/>
          <a:lstStyle/>
          <a:p>
            <a:pPr>
              <a:buNone/>
            </a:pPr>
            <a:r>
              <a:t>Edit Master text styles</a:t>
            </a:r>
          </a:p>
          <a:p>
            <a:pPr>
              <a:buNone/>
            </a:pPr>
            <a:r>
              <a:t>Second level</a:t>
            </a:r>
          </a:p>
          <a:p>
            <a:pPr>
              <a:buNone/>
            </a:pPr>
            <a:r>
              <a:t>Third level</a:t>
            </a:r>
          </a:p>
          <a:p>
            <a:pPr>
              <a:buNone/>
            </a:pPr>
            <a:r>
              <a:t>Fourth level</a:t>
            </a:r>
          </a:p>
          <a:p>
            <a:pPr>
              <a:buNone/>
            </a:pPr>
            <a:r>
              <a:t>Fifth level</a:t>
            </a:r>
          </a:p>
        </p:txBody>
      </p:sp>
      <p:sp>
        <p:nvSpPr>
          <p:cNvPr id="4" name="Content Placeholder 3">
            <a:extLst>
              <a:ext uri="{FF2B5EF4-FFF2-40B4-BE49-F238E27FC236}">
                <a16:creationId xmlns:a16="http://schemas.microsoft.com/office/drawing/2014/main" id="{67924914-DE30-453A-91BA-03D5EA9D98C6}"/>
              </a:ext>
            </a:extLst>
          </p:cNvPr>
          <p:cNvSpPr>
            <a:spLocks noGrp="1"/>
          </p:cNvSpPr>
          <p:nvPr>
            <p:ph idx="2"/>
          </p:nvPr>
        </p:nvSpPr>
        <p:spPr>
          <a:xfrm>
            <a:off x="6172200" y="1825625"/>
            <a:ext cx="5181600" cy="4351338"/>
          </a:xfrm>
        </p:spPr>
        <p:txBody>
          <a:bodyPr/>
          <a:lstStyle/>
          <a:p>
            <a:pPr>
              <a:buNone/>
            </a:pPr>
            <a:r>
              <a:t>Edit Master text styles</a:t>
            </a:r>
          </a:p>
          <a:p>
            <a:pPr>
              <a:buNone/>
            </a:pPr>
            <a:r>
              <a:t>Second level</a:t>
            </a:r>
          </a:p>
          <a:p>
            <a:pPr>
              <a:buNone/>
            </a:pPr>
            <a:r>
              <a:t>Third level</a:t>
            </a:r>
          </a:p>
          <a:p>
            <a:pPr>
              <a:buNone/>
            </a:pPr>
            <a:r>
              <a:t>Fourth level</a:t>
            </a:r>
          </a:p>
          <a:p>
            <a:pPr>
              <a:buNone/>
            </a:pPr>
            <a:r>
              <a:t>Fifth level</a:t>
            </a:r>
          </a:p>
        </p:txBody>
      </p:sp>
      <p:sp>
        <p:nvSpPr>
          <p:cNvPr id="5" name="Date Placeholder 4">
            <a:extLst>
              <a:ext uri="{FF2B5EF4-FFF2-40B4-BE49-F238E27FC236}">
                <a16:creationId xmlns:a16="http://schemas.microsoft.com/office/drawing/2014/main" id="{21124206-DD27-4A4B-B167-010C41170039}"/>
              </a:ext>
            </a:extLst>
          </p:cNvPr>
          <p:cNvSpPr>
            <a:spLocks noGrp="1"/>
          </p:cNvSpPr>
          <p:nvPr>
            <p:ph type="dt" idx="10"/>
          </p:nvPr>
        </p:nvSpPr>
        <p:spPr/>
        <p:txBody>
          <a:bodyPr/>
          <a:lstStyle/>
          <a:p>
            <a:fld id="{03A87349-D367-405F-AAC1-86F7777154E3}" type="datetimeFigureOut">
              <a:t>8/5/2026</a:t>
            </a:fld>
            <a:endParaRPr/>
          </a:p>
        </p:txBody>
      </p:sp>
      <p:sp>
        <p:nvSpPr>
          <p:cNvPr id="6" name="Footer Placeholder 5">
            <a:extLst>
              <a:ext uri="{FF2B5EF4-FFF2-40B4-BE49-F238E27FC236}">
                <a16:creationId xmlns:a16="http://schemas.microsoft.com/office/drawing/2014/main" id="{C0EC6B4C-A61E-4DB9-AB3F-9D4CB0EF3AE4}"/>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B3EC791B-4177-4D99-9458-72E74ADB1882}"/>
              </a:ext>
            </a:extLst>
          </p:cNvPr>
          <p:cNvSpPr>
            <a:spLocks noGrp="1"/>
          </p:cNvSpPr>
          <p:nvPr>
            <p:ph type="sldNum" idx="12"/>
          </p:nvPr>
        </p:nvSpPr>
        <p:spPr/>
        <p:txBody>
          <a:bodyPr/>
          <a:lstStyle/>
          <a:p>
            <a:fld id="{DA55874D-83D6-46FB-8AC2-1B761C2F1260}"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FF933-4FAD-4A12-B460-64D94303E4E6}"/>
              </a:ext>
            </a:extLst>
          </p:cNvPr>
          <p:cNvSpPr>
            <a:spLocks noGrp="1"/>
          </p:cNvSpPr>
          <p:nvPr>
            <p:ph type="title"/>
          </p:nvPr>
        </p:nvSpPr>
        <p:spPr>
          <a:xfrm>
            <a:off x="839788" y="365125"/>
            <a:ext cx="10515600" cy="1325563"/>
          </a:xfrm>
        </p:spPr>
        <p:txBody>
          <a:bodyPr/>
          <a:lstStyle/>
          <a:p>
            <a:r>
              <a:t>Click to edit Master title style</a:t>
            </a:r>
          </a:p>
        </p:txBody>
      </p:sp>
      <p:sp>
        <p:nvSpPr>
          <p:cNvPr id="3" name="Text Placeholder 2">
            <a:extLst>
              <a:ext uri="{FF2B5EF4-FFF2-40B4-BE49-F238E27FC236}">
                <a16:creationId xmlns:a16="http://schemas.microsoft.com/office/drawing/2014/main" id="{047FF731-1E64-45A9-B43D-1A8C984CC03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Edit Master text styles</a:t>
            </a:r>
          </a:p>
        </p:txBody>
      </p:sp>
      <p:sp>
        <p:nvSpPr>
          <p:cNvPr id="4" name="Content Placeholder 3">
            <a:extLst>
              <a:ext uri="{FF2B5EF4-FFF2-40B4-BE49-F238E27FC236}">
                <a16:creationId xmlns:a16="http://schemas.microsoft.com/office/drawing/2014/main" id="{05268E4E-2162-421A-A691-50D4C2C4C210}"/>
              </a:ext>
            </a:extLst>
          </p:cNvPr>
          <p:cNvSpPr>
            <a:spLocks noGrp="1"/>
          </p:cNvSpPr>
          <p:nvPr>
            <p:ph idx="2"/>
          </p:nvPr>
        </p:nvSpPr>
        <p:spPr>
          <a:xfrm>
            <a:off x="839788" y="2505075"/>
            <a:ext cx="5157787" cy="3684588"/>
          </a:xfrm>
        </p:spPr>
        <p:txBody>
          <a:bodyPr/>
          <a:lstStyle/>
          <a:p>
            <a:pPr>
              <a:buNone/>
            </a:pPr>
            <a:r>
              <a:t>Edit Master text styles</a:t>
            </a:r>
          </a:p>
          <a:p>
            <a:pPr>
              <a:buNone/>
            </a:pPr>
            <a:r>
              <a:t>Second level</a:t>
            </a:r>
          </a:p>
          <a:p>
            <a:pPr>
              <a:buNone/>
            </a:pPr>
            <a:r>
              <a:t>Third level</a:t>
            </a:r>
          </a:p>
          <a:p>
            <a:pPr>
              <a:buNone/>
            </a:pPr>
            <a:r>
              <a:t>Fourth level</a:t>
            </a:r>
          </a:p>
          <a:p>
            <a:pPr>
              <a:buNone/>
            </a:pPr>
            <a:r>
              <a:t>Fifth level</a:t>
            </a:r>
          </a:p>
        </p:txBody>
      </p:sp>
      <p:sp>
        <p:nvSpPr>
          <p:cNvPr id="5" name="Text Placeholder 4">
            <a:extLst>
              <a:ext uri="{FF2B5EF4-FFF2-40B4-BE49-F238E27FC236}">
                <a16:creationId xmlns:a16="http://schemas.microsoft.com/office/drawing/2014/main" id="{5A920755-6ADA-4C80-AF14-AC56CF22D832}"/>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Edit Master text styles</a:t>
            </a:r>
          </a:p>
        </p:txBody>
      </p:sp>
      <p:sp>
        <p:nvSpPr>
          <p:cNvPr id="6" name="Content Placeholder 5">
            <a:extLst>
              <a:ext uri="{FF2B5EF4-FFF2-40B4-BE49-F238E27FC236}">
                <a16:creationId xmlns:a16="http://schemas.microsoft.com/office/drawing/2014/main" id="{FD9266AF-4922-4536-9B04-04017B6DD4AB}"/>
              </a:ext>
            </a:extLst>
          </p:cNvPr>
          <p:cNvSpPr>
            <a:spLocks noGrp="1"/>
          </p:cNvSpPr>
          <p:nvPr>
            <p:ph idx="4"/>
          </p:nvPr>
        </p:nvSpPr>
        <p:spPr>
          <a:xfrm>
            <a:off x="6172200" y="2505075"/>
            <a:ext cx="5183188" cy="3684588"/>
          </a:xfrm>
        </p:spPr>
        <p:txBody>
          <a:bodyPr/>
          <a:lstStyle/>
          <a:p>
            <a:pPr>
              <a:buNone/>
            </a:pPr>
            <a:r>
              <a:t>Edit Master text styles</a:t>
            </a:r>
          </a:p>
          <a:p>
            <a:pPr>
              <a:buNone/>
            </a:pPr>
            <a:r>
              <a:t>Second level</a:t>
            </a:r>
          </a:p>
          <a:p>
            <a:pPr>
              <a:buNone/>
            </a:pPr>
            <a:r>
              <a:t>Third level</a:t>
            </a:r>
          </a:p>
          <a:p>
            <a:pPr>
              <a:buNone/>
            </a:pPr>
            <a:r>
              <a:t>Fourth level</a:t>
            </a:r>
          </a:p>
          <a:p>
            <a:pPr>
              <a:buNone/>
            </a:pPr>
            <a:r>
              <a:t>Fifth level</a:t>
            </a:r>
          </a:p>
        </p:txBody>
      </p:sp>
      <p:sp>
        <p:nvSpPr>
          <p:cNvPr id="7" name="Date Placeholder 6">
            <a:extLst>
              <a:ext uri="{FF2B5EF4-FFF2-40B4-BE49-F238E27FC236}">
                <a16:creationId xmlns:a16="http://schemas.microsoft.com/office/drawing/2014/main" id="{7242ACB2-8C6C-4319-973D-7E23FABCB178}"/>
              </a:ext>
            </a:extLst>
          </p:cNvPr>
          <p:cNvSpPr>
            <a:spLocks noGrp="1"/>
          </p:cNvSpPr>
          <p:nvPr>
            <p:ph type="dt" idx="10"/>
          </p:nvPr>
        </p:nvSpPr>
        <p:spPr/>
        <p:txBody>
          <a:bodyPr/>
          <a:lstStyle/>
          <a:p>
            <a:fld id="{03A87349-D367-405F-AAC1-86F7777154E3}" type="datetimeFigureOut">
              <a:t>8/5/2026</a:t>
            </a:fld>
            <a:endParaRPr/>
          </a:p>
        </p:txBody>
      </p:sp>
      <p:sp>
        <p:nvSpPr>
          <p:cNvPr id="8" name="Footer Placeholder 7">
            <a:extLst>
              <a:ext uri="{FF2B5EF4-FFF2-40B4-BE49-F238E27FC236}">
                <a16:creationId xmlns:a16="http://schemas.microsoft.com/office/drawing/2014/main" id="{719AFA0D-22C2-4791-9F7A-EA32BF3EF885}"/>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EC055D2B-2552-47A9-845D-578B92E9A452}"/>
              </a:ext>
            </a:extLst>
          </p:cNvPr>
          <p:cNvSpPr>
            <a:spLocks noGrp="1"/>
          </p:cNvSpPr>
          <p:nvPr>
            <p:ph type="sldNum" idx="12"/>
          </p:nvPr>
        </p:nvSpPr>
        <p:spPr/>
        <p:txBody>
          <a:bodyPr/>
          <a:lstStyle/>
          <a:p>
            <a:fld id="{DA55874D-83D6-46FB-8AC2-1B761C2F1260}"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CD68F-65BB-4C28-B854-7F575DB255CE}"/>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ACDB7F26-5CDB-41FD-9158-6121ABCEE82E}"/>
              </a:ext>
            </a:extLst>
          </p:cNvPr>
          <p:cNvSpPr>
            <a:spLocks noGrp="1"/>
          </p:cNvSpPr>
          <p:nvPr>
            <p:ph type="dt" idx="10"/>
          </p:nvPr>
        </p:nvSpPr>
        <p:spPr/>
        <p:txBody>
          <a:bodyPr/>
          <a:lstStyle/>
          <a:p>
            <a:fld id="{03A87349-D367-405F-AAC1-86F7777154E3}" type="datetimeFigureOut">
              <a:t>8/5/2026</a:t>
            </a:fld>
            <a:endParaRPr/>
          </a:p>
        </p:txBody>
      </p:sp>
      <p:sp>
        <p:nvSpPr>
          <p:cNvPr id="4" name="Footer Placeholder 3">
            <a:extLst>
              <a:ext uri="{FF2B5EF4-FFF2-40B4-BE49-F238E27FC236}">
                <a16:creationId xmlns:a16="http://schemas.microsoft.com/office/drawing/2014/main" id="{593C7946-5877-4F24-A67E-7F7B529E88E0}"/>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732BC395-F2F9-4F18-BAC0-0D0A23301022}"/>
              </a:ext>
            </a:extLst>
          </p:cNvPr>
          <p:cNvSpPr>
            <a:spLocks noGrp="1"/>
          </p:cNvSpPr>
          <p:nvPr>
            <p:ph type="sldNum" idx="12"/>
          </p:nvPr>
        </p:nvSpPr>
        <p:spPr/>
        <p:txBody>
          <a:bodyPr/>
          <a:lstStyle/>
          <a:p>
            <a:fld id="{DA55874D-83D6-46FB-8AC2-1B761C2F1260}"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295C6D8-F083-415A-8CAF-978A6C13F40D}"/>
              </a:ext>
            </a:extLst>
          </p:cNvPr>
          <p:cNvSpPr>
            <a:spLocks noGrp="1"/>
          </p:cNvSpPr>
          <p:nvPr>
            <p:ph type="dt" idx="10"/>
          </p:nvPr>
        </p:nvSpPr>
        <p:spPr/>
        <p:txBody>
          <a:bodyPr/>
          <a:lstStyle/>
          <a:p>
            <a:fld id="{03A87349-D367-405F-AAC1-86F7777154E3}" type="datetimeFigureOut">
              <a:t>8/5/2026</a:t>
            </a:fld>
            <a:endParaRPr/>
          </a:p>
        </p:txBody>
      </p:sp>
      <p:sp>
        <p:nvSpPr>
          <p:cNvPr id="3" name="Footer Placeholder 2">
            <a:extLst>
              <a:ext uri="{FF2B5EF4-FFF2-40B4-BE49-F238E27FC236}">
                <a16:creationId xmlns:a16="http://schemas.microsoft.com/office/drawing/2014/main" id="{B6B0463D-BAC2-4008-BD92-AA686F03B92E}"/>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BAF3B0C7-2F68-427B-9DDA-36211B99945C}"/>
              </a:ext>
            </a:extLst>
          </p:cNvPr>
          <p:cNvSpPr>
            <a:spLocks noGrp="1"/>
          </p:cNvSpPr>
          <p:nvPr>
            <p:ph type="sldNum" idx="12"/>
          </p:nvPr>
        </p:nvSpPr>
        <p:spPr/>
        <p:txBody>
          <a:bodyPr/>
          <a:lstStyle/>
          <a:p>
            <a:fld id="{DA55874D-83D6-46FB-8AC2-1B761C2F1260}"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8A959-0C3B-4AAD-BF60-E49A76F38EBC}"/>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Content Placeholder 2">
            <a:extLst>
              <a:ext uri="{FF2B5EF4-FFF2-40B4-BE49-F238E27FC236}">
                <a16:creationId xmlns:a16="http://schemas.microsoft.com/office/drawing/2014/main" id="{659BA80E-5F56-413C-8634-AFB2CBA5BF49}"/>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a:buNone/>
            </a:pPr>
            <a:r>
              <a:t>Edit Master text styles</a:t>
            </a:r>
          </a:p>
          <a:p>
            <a:pPr>
              <a:buNone/>
            </a:pPr>
            <a:r>
              <a:t>Second level</a:t>
            </a:r>
          </a:p>
          <a:p>
            <a:pPr>
              <a:buNone/>
            </a:pPr>
            <a:r>
              <a:t>Third level</a:t>
            </a:r>
          </a:p>
          <a:p>
            <a:pPr>
              <a:buNone/>
            </a:pPr>
            <a:r>
              <a:t>Fourth level</a:t>
            </a:r>
          </a:p>
          <a:p>
            <a:pPr>
              <a:buNone/>
            </a:pPr>
            <a:r>
              <a:t>Fifth level</a:t>
            </a:r>
          </a:p>
        </p:txBody>
      </p:sp>
      <p:sp>
        <p:nvSpPr>
          <p:cNvPr id="4" name="Text Placeholder 3">
            <a:extLst>
              <a:ext uri="{FF2B5EF4-FFF2-40B4-BE49-F238E27FC236}">
                <a16:creationId xmlns:a16="http://schemas.microsoft.com/office/drawing/2014/main" id="{957C2F9C-A745-4CEA-876E-C53E8405E1D7}"/>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a:buNone/>
            </a:pPr>
            <a:r>
              <a:t>Edit Master text styles</a:t>
            </a:r>
          </a:p>
        </p:txBody>
      </p:sp>
      <p:sp>
        <p:nvSpPr>
          <p:cNvPr id="5" name="Date Placeholder 4">
            <a:extLst>
              <a:ext uri="{FF2B5EF4-FFF2-40B4-BE49-F238E27FC236}">
                <a16:creationId xmlns:a16="http://schemas.microsoft.com/office/drawing/2014/main" id="{76EE7228-597B-4BA9-85B3-1122DA78376F}"/>
              </a:ext>
            </a:extLst>
          </p:cNvPr>
          <p:cNvSpPr>
            <a:spLocks noGrp="1"/>
          </p:cNvSpPr>
          <p:nvPr>
            <p:ph type="dt" idx="10"/>
          </p:nvPr>
        </p:nvSpPr>
        <p:spPr/>
        <p:txBody>
          <a:bodyPr/>
          <a:lstStyle/>
          <a:p>
            <a:fld id="{03A87349-D367-405F-AAC1-86F7777154E3}" type="datetimeFigureOut">
              <a:t>8/5/2026</a:t>
            </a:fld>
            <a:endParaRPr/>
          </a:p>
        </p:txBody>
      </p:sp>
      <p:sp>
        <p:nvSpPr>
          <p:cNvPr id="6" name="Footer Placeholder 5">
            <a:extLst>
              <a:ext uri="{FF2B5EF4-FFF2-40B4-BE49-F238E27FC236}">
                <a16:creationId xmlns:a16="http://schemas.microsoft.com/office/drawing/2014/main" id="{C942E9AB-E5AD-47BF-B77E-C4A747618313}"/>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D63BFDD5-954B-4C42-98A6-CBEC99032351}"/>
              </a:ext>
            </a:extLst>
          </p:cNvPr>
          <p:cNvSpPr>
            <a:spLocks noGrp="1"/>
          </p:cNvSpPr>
          <p:nvPr>
            <p:ph type="sldNum" idx="12"/>
          </p:nvPr>
        </p:nvSpPr>
        <p:spPr/>
        <p:txBody>
          <a:bodyPr/>
          <a:lstStyle/>
          <a:p>
            <a:fld id="{DA55874D-83D6-46FB-8AC2-1B761C2F1260}"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871BA-B80C-416E-B480-2E2EF0D73200}"/>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Picture Placeholder 2">
            <a:extLst>
              <a:ext uri="{FF2B5EF4-FFF2-40B4-BE49-F238E27FC236}">
                <a16:creationId xmlns:a16="http://schemas.microsoft.com/office/drawing/2014/main" id="{29481E87-4E58-4F19-B7D0-EB9DB5093E8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772CCDA3-B0A7-429F-AAFB-82113EE3CF82}"/>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a:buNone/>
            </a:pPr>
            <a:r>
              <a:t>Edit Master text styles</a:t>
            </a:r>
          </a:p>
        </p:txBody>
      </p:sp>
      <p:sp>
        <p:nvSpPr>
          <p:cNvPr id="5" name="Date Placeholder 4">
            <a:extLst>
              <a:ext uri="{FF2B5EF4-FFF2-40B4-BE49-F238E27FC236}">
                <a16:creationId xmlns:a16="http://schemas.microsoft.com/office/drawing/2014/main" id="{B184D425-4294-4CD5-8E0F-85CEA5133418}"/>
              </a:ext>
            </a:extLst>
          </p:cNvPr>
          <p:cNvSpPr>
            <a:spLocks noGrp="1"/>
          </p:cNvSpPr>
          <p:nvPr>
            <p:ph type="dt" idx="10"/>
          </p:nvPr>
        </p:nvSpPr>
        <p:spPr/>
        <p:txBody>
          <a:bodyPr/>
          <a:lstStyle/>
          <a:p>
            <a:fld id="{03A87349-D367-405F-AAC1-86F7777154E3}" type="datetimeFigureOut">
              <a:t>8/5/2026</a:t>
            </a:fld>
            <a:endParaRPr/>
          </a:p>
        </p:txBody>
      </p:sp>
      <p:sp>
        <p:nvSpPr>
          <p:cNvPr id="6" name="Footer Placeholder 5">
            <a:extLst>
              <a:ext uri="{FF2B5EF4-FFF2-40B4-BE49-F238E27FC236}">
                <a16:creationId xmlns:a16="http://schemas.microsoft.com/office/drawing/2014/main" id="{77C1D430-000B-4EEE-A1E0-F10AB0F9AAD5}"/>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A237C496-AC72-4A0B-A5A8-2101B4F81A4F}"/>
              </a:ext>
            </a:extLst>
          </p:cNvPr>
          <p:cNvSpPr>
            <a:spLocks noGrp="1"/>
          </p:cNvSpPr>
          <p:nvPr>
            <p:ph type="sldNum" idx="12"/>
          </p:nvPr>
        </p:nvSpPr>
        <p:spPr/>
        <p:txBody>
          <a:bodyPr/>
          <a:lstStyle/>
          <a:p>
            <a:fld id="{DA55874D-83D6-46FB-8AC2-1B761C2F1260}"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641C5-1A88-46E4-9C83-3566062BED84}"/>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3EFD4C07-AFD9-4E77-B99B-05174CB34949}"/>
              </a:ext>
            </a:extLst>
          </p:cNvPr>
          <p:cNvSpPr>
            <a:spLocks noGrp="1"/>
          </p:cNvSpPr>
          <p:nvPr>
            <p:ph type="body" idx="1"/>
          </p:nvPr>
        </p:nvSpPr>
        <p:spPr/>
        <p:txBody>
          <a:bodyPr vert="eaVert"/>
          <a:lstStyle/>
          <a:p>
            <a:pPr>
              <a:buNone/>
            </a:pPr>
            <a:r>
              <a:t>Edit Master text styles</a:t>
            </a:r>
          </a:p>
          <a:p>
            <a:pPr>
              <a:buNone/>
            </a:pPr>
            <a:r>
              <a:t>Second level</a:t>
            </a:r>
          </a:p>
          <a:p>
            <a:pPr>
              <a:buNone/>
            </a:pPr>
            <a:r>
              <a:t>Third level</a:t>
            </a:r>
          </a:p>
          <a:p>
            <a:pPr>
              <a:buNone/>
            </a:pPr>
            <a:r>
              <a:t>Fourth level</a:t>
            </a:r>
          </a:p>
          <a:p>
            <a:pPr>
              <a:buNone/>
            </a:pPr>
            <a:r>
              <a:t>Fifth level</a:t>
            </a:r>
          </a:p>
        </p:txBody>
      </p:sp>
      <p:sp>
        <p:nvSpPr>
          <p:cNvPr id="4" name="Date Placeholder 3">
            <a:extLst>
              <a:ext uri="{FF2B5EF4-FFF2-40B4-BE49-F238E27FC236}">
                <a16:creationId xmlns:a16="http://schemas.microsoft.com/office/drawing/2014/main" id="{ABC58FD3-911A-40C3-834D-144006D8EA30}"/>
              </a:ext>
            </a:extLst>
          </p:cNvPr>
          <p:cNvSpPr>
            <a:spLocks noGrp="1"/>
          </p:cNvSpPr>
          <p:nvPr>
            <p:ph type="dt" idx="10"/>
          </p:nvPr>
        </p:nvSpPr>
        <p:spPr/>
        <p:txBody>
          <a:bodyPr/>
          <a:lstStyle/>
          <a:p>
            <a:fld id="{03A87349-D367-405F-AAC1-86F7777154E3}" type="datetimeFigureOut">
              <a:t>8/5/2026</a:t>
            </a:fld>
            <a:endParaRPr/>
          </a:p>
        </p:txBody>
      </p:sp>
      <p:sp>
        <p:nvSpPr>
          <p:cNvPr id="5" name="Footer Placeholder 4">
            <a:extLst>
              <a:ext uri="{FF2B5EF4-FFF2-40B4-BE49-F238E27FC236}">
                <a16:creationId xmlns:a16="http://schemas.microsoft.com/office/drawing/2014/main" id="{344FFEFC-10F2-4AE4-B7DE-0F6B137B0936}"/>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507CE998-6683-4F1B-9036-97ED83EA0CC7}"/>
              </a:ext>
            </a:extLst>
          </p:cNvPr>
          <p:cNvSpPr>
            <a:spLocks noGrp="1"/>
          </p:cNvSpPr>
          <p:nvPr>
            <p:ph type="sldNum" idx="12"/>
          </p:nvPr>
        </p:nvSpPr>
        <p:spPr/>
        <p:txBody>
          <a:bodyPr/>
          <a:lstStyle/>
          <a:p>
            <a:fld id="{DA55874D-83D6-46FB-8AC2-1B761C2F1260}"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9F1A54F-14F5-4F01-8FB7-48D224E0D53C}"/>
              </a:ext>
            </a:extLst>
          </p:cNvPr>
          <p:cNvSpPr>
            <a:spLocks noGrp="1"/>
          </p:cNvSpPr>
          <p:nvPr>
            <p:ph type="title"/>
          </p:nvPr>
        </p:nvSpPr>
        <p:spPr>
          <a:xfrm>
            <a:off x="8724900" y="365125"/>
            <a:ext cx="2628900" cy="5811838"/>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AD0716F5-B13A-4614-9053-AD503891E037}"/>
              </a:ext>
            </a:extLst>
          </p:cNvPr>
          <p:cNvSpPr>
            <a:spLocks noGrp="1"/>
          </p:cNvSpPr>
          <p:nvPr>
            <p:ph type="body" idx="1"/>
          </p:nvPr>
        </p:nvSpPr>
        <p:spPr>
          <a:xfrm>
            <a:off x="838200" y="365125"/>
            <a:ext cx="7734300" cy="5811838"/>
          </a:xfrm>
        </p:spPr>
        <p:txBody>
          <a:bodyPr vert="eaVert"/>
          <a:lstStyle/>
          <a:p>
            <a:pPr>
              <a:buNone/>
            </a:pPr>
            <a:r>
              <a:t>Edit Master text styles</a:t>
            </a:r>
          </a:p>
          <a:p>
            <a:pPr>
              <a:buNone/>
            </a:pPr>
            <a:r>
              <a:t>Second level</a:t>
            </a:r>
          </a:p>
          <a:p>
            <a:pPr>
              <a:buNone/>
            </a:pPr>
            <a:r>
              <a:t>Third level</a:t>
            </a:r>
          </a:p>
          <a:p>
            <a:pPr>
              <a:buNone/>
            </a:pPr>
            <a:r>
              <a:t>Fourth level</a:t>
            </a:r>
          </a:p>
          <a:p>
            <a:pPr>
              <a:buNone/>
            </a:pPr>
            <a:r>
              <a:t>Fifth level</a:t>
            </a:r>
          </a:p>
        </p:txBody>
      </p:sp>
      <p:sp>
        <p:nvSpPr>
          <p:cNvPr id="4" name="Date Placeholder 3">
            <a:extLst>
              <a:ext uri="{FF2B5EF4-FFF2-40B4-BE49-F238E27FC236}">
                <a16:creationId xmlns:a16="http://schemas.microsoft.com/office/drawing/2014/main" id="{3262912A-8FC9-4AF4-97C1-8B8A3FF63D2C}"/>
              </a:ext>
            </a:extLst>
          </p:cNvPr>
          <p:cNvSpPr>
            <a:spLocks noGrp="1"/>
          </p:cNvSpPr>
          <p:nvPr>
            <p:ph type="dt" idx="10"/>
          </p:nvPr>
        </p:nvSpPr>
        <p:spPr/>
        <p:txBody>
          <a:bodyPr/>
          <a:lstStyle/>
          <a:p>
            <a:fld id="{03A87349-D367-405F-AAC1-86F7777154E3}" type="datetimeFigureOut">
              <a:t>8/5/2026</a:t>
            </a:fld>
            <a:endParaRPr/>
          </a:p>
        </p:txBody>
      </p:sp>
      <p:sp>
        <p:nvSpPr>
          <p:cNvPr id="5" name="Footer Placeholder 4">
            <a:extLst>
              <a:ext uri="{FF2B5EF4-FFF2-40B4-BE49-F238E27FC236}">
                <a16:creationId xmlns:a16="http://schemas.microsoft.com/office/drawing/2014/main" id="{E4588729-D05A-490F-B06B-F85304622158}"/>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4A88EA07-C457-4C3F-8CEA-65BC66D2FFCB}"/>
              </a:ext>
            </a:extLst>
          </p:cNvPr>
          <p:cNvSpPr>
            <a:spLocks noGrp="1"/>
          </p:cNvSpPr>
          <p:nvPr>
            <p:ph type="sldNum" idx="12"/>
          </p:nvPr>
        </p:nvSpPr>
        <p:spPr/>
        <p:txBody>
          <a:bodyPr/>
          <a:lstStyle/>
          <a:p>
            <a:fld id="{DA55874D-83D6-46FB-8AC2-1B761C2F1260}"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21DA987-F5D6-4DB3-8DAC-40B6245A19D5}"/>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CA0A9378-FB72-47F2-A3C9-FB4C0945BDFF}"/>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a:buNone/>
            </a:pPr>
            <a:r>
              <a:t>Edit Master text styles</a:t>
            </a:r>
          </a:p>
          <a:p>
            <a:pPr>
              <a:buNone/>
            </a:pPr>
            <a:r>
              <a:t>Second level</a:t>
            </a:r>
          </a:p>
          <a:p>
            <a:pPr>
              <a:buNone/>
            </a:pPr>
            <a:r>
              <a:t>Third level</a:t>
            </a:r>
          </a:p>
          <a:p>
            <a:pPr>
              <a:buNone/>
            </a:pPr>
            <a:r>
              <a:t>Fourth level</a:t>
            </a:r>
          </a:p>
          <a:p>
            <a:pPr>
              <a:buNone/>
            </a:pPr>
            <a:r>
              <a:t>Fifth level</a:t>
            </a:r>
          </a:p>
        </p:txBody>
      </p:sp>
      <p:sp>
        <p:nvSpPr>
          <p:cNvPr id="4" name="Date Placeholder 3">
            <a:extLst>
              <a:ext uri="{FF2B5EF4-FFF2-40B4-BE49-F238E27FC236}">
                <a16:creationId xmlns:a16="http://schemas.microsoft.com/office/drawing/2014/main" id="{468365E7-A39F-4734-A384-9424884A63A1}"/>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03A87349-D367-405F-AAC1-86F7777154E3}" type="datetimeFigureOut">
              <a:t>8/5/2026</a:t>
            </a:fld>
            <a:endParaRPr/>
          </a:p>
        </p:txBody>
      </p:sp>
      <p:sp>
        <p:nvSpPr>
          <p:cNvPr id="5" name="Footer Placeholder 4">
            <a:extLst>
              <a:ext uri="{FF2B5EF4-FFF2-40B4-BE49-F238E27FC236}">
                <a16:creationId xmlns:a16="http://schemas.microsoft.com/office/drawing/2014/main" id="{3FA39015-8F7A-4B09-BE83-979802A9CD7D}"/>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80DC36BC-5BFA-4A0E-A4B6-B310A7EEE5A4}"/>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DA55874D-83D6-46FB-8AC2-1B761C2F1260}"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a:lnSpc>
          <a:spcPct val="90000"/>
        </a:lnSpc>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3.jpeg"/><Relationship Id="rId4" Type="http://schemas.openxmlformats.org/officeDocument/2006/relationships/image" Target="../media/image1.png"/><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CoverPhoto1"/>
          <p:cNvPicPr>
            <a:picLocks noChangeAspect="1"/>
          </p:cNvPicPr>
          <p:nvPr/>
        </p:nvPicPr>
        <p:blipFill>
          <a:blip r:embed="rId3">
            <a:alphaModFix amt="38000"/>
          </a:blip>
          <a:stretch>
            <a:fillRect/>
          </a:stretch>
        </p:blipFill>
        <p:spPr>
          <a:xfrm>
            <a:off x="0" y="-3648"/>
            <a:ext cx="12192000" cy="6857999"/>
          </a:xfrm>
          <a:prstGeom prst="rect">
            <a:avLst/>
          </a:prstGeom>
          <a:effectLst>
            <a:reflection blurRad="1270000" stA="1000" endPos="65000" dist="1270000" dir="5400000" sy="-100000" algn="bl" rotWithShape="0"/>
          </a:effectLst>
        </p:spPr>
      </p:pic>
      <p:sp>
        <p:nvSpPr>
          <p:cNvPr id="23" name="Shape 2">
            <a:extLst>
              <a:ext uri="{FF2B5EF4-FFF2-40B4-BE49-F238E27FC236}">
                <a16:creationId xmlns:a16="http://schemas.microsoft.com/office/drawing/2014/main" id="{BA0CEDBC-E782-B868-B32E-81C3AB385E02}"/>
              </a:ext>
            </a:extLst>
          </p:cNvPr>
          <p:cNvSpPr>
            <a:spLocks noGrp="1"/>
          </p:cNvSpPr>
          <p:nvPr/>
        </p:nvSpPr>
        <p:spPr>
          <a:xfrm>
            <a:off x="8951950" y="-621792"/>
            <a:ext cx="4383439" cy="4047744"/>
          </a:xfrm>
          <a:prstGeom prst="ellipse">
            <a:avLst/>
          </a:prstGeom>
          <a:solidFill>
            <a:srgbClr val="F5F3FF">
              <a:alpha val="80000"/>
            </a:srgbClr>
          </a:solidFill>
          <a:ln w="12700">
            <a:solidFill>
              <a:srgbClr val="F5F3FF">
                <a:alpha val="80000"/>
              </a:srgbClr>
            </a:solidFill>
            <a:prstDash val="solid"/>
          </a:ln>
        </p:spPr>
        <p:txBody>
          <a:bodyPr/>
          <a:lstStyle/>
          <a:p>
            <a:endParaRPr/>
          </a:p>
        </p:txBody>
      </p:sp>
      <p:sp>
        <p:nvSpPr>
          <p:cNvPr id="2" name="Shape 0">
            <a:extLst>
              <a:ext uri="{FF2B5EF4-FFF2-40B4-BE49-F238E27FC236}">
                <a16:creationId xmlns:a16="http://schemas.microsoft.com/office/drawing/2014/main" id="{9CF0D803-54D3-434A-8009-5A4E5A2FF92E}"/>
              </a:ext>
            </a:extLst>
          </p:cNvPr>
          <p:cNvSpPr>
            <a:spLocks noGrp="1"/>
          </p:cNvSpPr>
          <p:nvPr/>
        </p:nvSpPr>
        <p:spPr>
          <a:xfrm>
            <a:off x="0" y="0"/>
            <a:ext cx="146304" cy="6858000"/>
          </a:xfrm>
          <a:prstGeom prst="rect">
            <a:avLst/>
          </a:prstGeom>
          <a:solidFill>
            <a:srgbClr val="7C3AED"/>
          </a:solidFill>
          <a:ln w="12700">
            <a:solidFill>
              <a:srgbClr val="7C3AED"/>
            </a:solidFill>
            <a:prstDash val="solid"/>
          </a:ln>
        </p:spPr>
        <p:txBody>
          <a:bodyPr/>
          <a:lstStyle/>
          <a:p>
            <a:endParaRPr/>
          </a:p>
        </p:txBody>
      </p:sp>
      <p:sp>
        <p:nvSpPr>
          <p:cNvPr id="5" name="Text 3">
            <a:extLst>
              <a:ext uri="{FF2B5EF4-FFF2-40B4-BE49-F238E27FC236}">
                <a16:creationId xmlns:a16="http://schemas.microsoft.com/office/drawing/2014/main" id="{7D170CE6-6071-4773-8092-04F0B3E24394}"/>
              </a:ext>
            </a:extLst>
          </p:cNvPr>
          <p:cNvSpPr>
            <a:spLocks noGrp="1"/>
          </p:cNvSpPr>
          <p:nvPr/>
        </p:nvSpPr>
        <p:spPr>
          <a:xfrm>
            <a:off x="395713" y="1747343"/>
            <a:ext cx="10363200" cy="487680"/>
          </a:xfrm>
          <a:prstGeom prst="rect">
            <a:avLst/>
          </a:prstGeom>
          <a:noFill/>
        </p:spPr>
        <p:txBody>
          <a:bodyPr wrap="square" anchor="ctr"/>
          <a:lstStyle/>
          <a:p/>
        </p:txBody>
      </p:sp>
      <p:sp>
        <p:nvSpPr>
          <p:cNvPr id="6" name="Text 4">
            <a:extLst>
              <a:ext uri="{FF2B5EF4-FFF2-40B4-BE49-F238E27FC236}">
                <a16:creationId xmlns:a16="http://schemas.microsoft.com/office/drawing/2014/main" id="{D6DF8F83-5C68-45F2-84A9-A19D1FD99EDC}"/>
              </a:ext>
            </a:extLst>
          </p:cNvPr>
          <p:cNvSpPr>
            <a:spLocks noGrp="1"/>
          </p:cNvSpPr>
          <p:nvPr/>
        </p:nvSpPr>
        <p:spPr>
          <a:xfrm>
            <a:off x="426720" y="2998652"/>
            <a:ext cx="11338560" cy="1341120"/>
          </a:xfrm>
          <a:prstGeom prst="rect">
            <a:avLst/>
          </a:prstGeom>
          <a:noFill/>
        </p:spPr>
        <p:txBody>
          <a:bodyPr wrap="square" anchor="ctr"/>
          <a:lstStyle/>
          <a:p/>
        </p:txBody>
      </p:sp>
      <p:sp>
        <p:nvSpPr>
          <p:cNvPr id="7" name="Text 5">
            <a:extLst>
              <a:ext uri="{FF2B5EF4-FFF2-40B4-BE49-F238E27FC236}">
                <a16:creationId xmlns:a16="http://schemas.microsoft.com/office/drawing/2014/main" id="{0B898F68-974D-42FD-8214-12AD49C0F595}"/>
              </a:ext>
            </a:extLst>
          </p:cNvPr>
          <p:cNvSpPr>
            <a:spLocks noGrp="1"/>
          </p:cNvSpPr>
          <p:nvPr/>
        </p:nvSpPr>
        <p:spPr>
          <a:xfrm>
            <a:off x="609600" y="3462287"/>
            <a:ext cx="10363200" cy="731520"/>
          </a:xfrm>
          <a:prstGeom prst="rect">
            <a:avLst/>
          </a:prstGeom>
          <a:noFill/>
        </p:spPr>
        <p:txBody>
          <a:bodyPr wrap="square" anchor="ctr"/>
          <a:lstStyle/>
          <a:p>
            <a:endParaRPr/>
          </a:p>
        </p:txBody>
      </p:sp>
      <p:pic>
        <p:nvPicPr>
          <p:cNvPr id="34" name="Picture 20"/>
          <p:cNvPicPr>
            <a:picLocks noChangeAspect="1"/>
          </p:cNvPicPr>
          <p:nvPr/>
        </p:nvPicPr>
        <p:blipFill>
          <a:blip r:embed="rId4"/>
          <a:stretch>
            <a:fillRect/>
          </a:stretch>
        </p:blipFill>
        <p:spPr>
          <a:xfrm>
            <a:off x="395714" y="232606"/>
            <a:ext cx="1812900" cy="572052"/>
          </a:xfrm>
          <a:prstGeom prst="rect">
            <a:avLst/>
          </a:prstGeom>
        </p:spPr>
      </p:pic>
      <p:pic>
        <p:nvPicPr>
          <p:cNvPr id="35" name="Picture 21"/>
          <p:cNvPicPr>
            <a:picLocks noChangeAspect="1"/>
          </p:cNvPicPr>
          <p:nvPr/>
        </p:nvPicPr>
        <p:blipFill>
          <a:blip r:embed="rId5"/>
          <a:stretch>
            <a:fillRect/>
          </a:stretch>
        </p:blipFill>
        <p:spPr>
          <a:xfrm>
            <a:off x="10130845" y="153062"/>
            <a:ext cx="1647687" cy="786396"/>
          </a:xfrm>
          <a:prstGeom prst="rect">
            <a:avLst/>
          </a:prstGeom>
        </p:spPr>
      </p:pic>
      <p:sp>
        <p:nvSpPr>
          <p:cNvPr id="24" name="TextBox 23">
            <a:extLst>
              <a:ext uri="{FF2B5EF4-FFF2-40B4-BE49-F238E27FC236}">
                <a16:creationId xmlns:a16="http://schemas.microsoft.com/office/drawing/2014/main" id="{A5C5AD80-01A3-2A2A-751F-3B54899D1F52}"/>
              </a:ext>
            </a:extLst>
          </p:cNvPr>
          <p:cNvSpPr>
            <a:spLocks noGrp="1"/>
          </p:cNvSpPr>
          <p:nvPr/>
        </p:nvSpPr>
        <p:spPr>
          <a:xfrm>
            <a:off x="395713" y="2319398"/>
            <a:ext cx="9310539" cy="379656"/>
          </a:xfrm>
          <a:prstGeom prst="rect">
            <a:avLst/>
          </a:prstGeom>
          <a:noFill/>
        </p:spPr>
        <p:txBody>
          <a:bodyPr wrap="square">
            <a:spAutoFit/>
          </a:bodyPr>
          <a:lstStyle/>
          <a:p/>
        </p:txBody>
      </p:sp>
      <p:sp>
        <p:nvSpPr>
          <p:cNvPr id="36" name="TextBox 35"/>
          <p:cNvSpPr txBox="1"/>
          <p:nvPr/>
        </p:nvSpPr>
        <p:spPr>
          <a:xfrm>
            <a:off x="640080" y="1143000"/>
            <a:ext cx="10789920" cy="1280160"/>
          </a:xfrm>
          <a:prstGeom prst="rect">
            <a:avLst/>
          </a:prstGeom>
          <a:noFill/>
        </p:spPr>
        <p:txBody>
          <a:bodyPr wrap="none">
            <a:spAutoFit/>
          </a:bodyPr>
          <a:lstStyle/>
          <a:p>
            <a:pPr>
              <a:defRPr sz="4800" b="1">
                <a:solidFill>
                  <a:srgbClr val="242D46"/>
                </a:solidFill>
                <a:latin typeface="Aptos Display"/>
              </a:defRPr>
            </a:pPr>
            <a:r>
              <a:t>HerNext</a:t>
            </a:r>
          </a:p>
          <a:p>
            <a:pPr>
              <a:defRPr sz="2600">
                <a:solidFill>
                  <a:srgbClr val="674D91"/>
                </a:solidFill>
                <a:latin typeface="Aptos"/>
              </a:defRPr>
            </a:pPr>
            <a:r>
              <a:t>Women’s Health Navigator</a:t>
            </a:r>
          </a:p>
        </p:txBody>
      </p:sp>
      <p:sp>
        <p:nvSpPr>
          <p:cNvPr id="37" name="TextBox 36"/>
          <p:cNvSpPr txBox="1"/>
          <p:nvPr/>
        </p:nvSpPr>
        <p:spPr>
          <a:xfrm>
            <a:off x="658368" y="2743200"/>
            <a:ext cx="10424160" cy="1371600"/>
          </a:xfrm>
          <a:prstGeom prst="rect">
            <a:avLst/>
          </a:prstGeom>
          <a:noFill/>
        </p:spPr>
        <p:txBody>
          <a:bodyPr wrap="none">
            <a:spAutoFit/>
          </a:bodyPr>
          <a:lstStyle/>
          <a:p>
            <a:pPr>
              <a:defRPr sz="2600" b="1">
                <a:solidFill>
                  <a:srgbClr val="2D2D37"/>
                </a:solidFill>
                <a:latin typeface="Aptos"/>
              </a:defRPr>
            </a:pPr>
            <a:r>
              <a:t>From Health Uncertainty to the Right Next Step</a:t>
            </a:r>
          </a:p>
          <a:p>
            <a:pPr>
              <a:defRPr sz="1700">
                <a:solidFill>
                  <a:srgbClr val="696973"/>
                </a:solidFill>
                <a:latin typeface="Aptos"/>
              </a:defRPr>
            </a:pPr>
            <a:r>
              <a:t>A multilingual, privacy-conscious GenAI health-navigation assistant</a:t>
            </a:r>
          </a:p>
        </p:txBody>
      </p:sp>
      <p:sp>
        <p:nvSpPr>
          <p:cNvPr id="38" name="TextBox 37"/>
          <p:cNvSpPr txBox="1"/>
          <p:nvPr/>
        </p:nvSpPr>
        <p:spPr>
          <a:xfrm>
            <a:off x="658368" y="4892040"/>
            <a:ext cx="10424160" cy="914400"/>
          </a:xfrm>
          <a:prstGeom prst="rect">
            <a:avLst/>
          </a:prstGeom>
          <a:noFill/>
        </p:spPr>
        <p:txBody>
          <a:bodyPr wrap="none">
            <a:spAutoFit/>
          </a:bodyPr>
          <a:lstStyle/>
          <a:p>
            <a:pPr>
              <a:defRPr sz="1800" b="1">
                <a:solidFill>
                  <a:srgbClr val="674D91"/>
                </a:solidFill>
                <a:latin typeface="Aptos"/>
              </a:defRPr>
            </a:pPr>
            <a:r>
              <a:t>ASPIRE FOR HER × LOGITECH</a:t>
            </a:r>
          </a:p>
          <a:p>
            <a:pPr>
              <a:defRPr sz="1400">
                <a:solidFill>
                  <a:srgbClr val="696973"/>
                </a:solidFill>
                <a:latin typeface="Aptos"/>
              </a:defRPr>
            </a:pPr>
            <a:r>
              <a:t>Women Who Master — Individual GenAI Hackathon Submission</a:t>
            </a:r>
          </a:p>
        </p:txBody>
      </p:sp>
      <p:sp>
        <p:nvSpPr>
          <p:cNvPr id="39" name="TextBox 38"/>
          <p:cNvSpPr txBox="1"/>
          <p:nvPr/>
        </p:nvSpPr>
        <p:spPr>
          <a:xfrm>
            <a:off x="502920" y="6510528"/>
            <a:ext cx="10972800" cy="182880"/>
          </a:xfrm>
          <a:prstGeom prst="rect">
            <a:avLst/>
          </a:prstGeom>
          <a:noFill/>
        </p:spPr>
        <p:txBody>
          <a:bodyPr wrap="none">
            <a:spAutoFit/>
          </a:bodyPr>
          <a:lstStyle/>
          <a:p>
            <a:pPr algn="r">
              <a:defRPr sz="800">
                <a:solidFill>
                  <a:srgbClr val="696973"/>
                </a:solidFill>
                <a:latin typeface="Aptos"/>
              </a:defRPr>
            </a:pPr>
            <a:r>
              <a:t>HerNext — Women’s Health Navigator</a:t>
            </a:r>
          </a:p>
        </p:txBody>
      </p:sp>
    </p:spTree>
    <p:extLst>
      <p:ext uri="{BB962C8B-B14F-4D97-AF65-F5344CB8AC3E}">
        <p14:creationId xmlns:p14="http://schemas.microsoft.com/office/powerpoint/2010/main" val="2257883730"/>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109728"/>
          </a:xfrm>
          <a:prstGeom prst="rect">
            <a:avLst/>
          </a:prstGeom>
          <a:solidFill>
            <a:srgbClr val="674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594360"/>
          </a:xfrm>
          <a:prstGeom prst="rect">
            <a:avLst/>
          </a:prstGeom>
          <a:noFill/>
        </p:spPr>
        <p:txBody>
          <a:bodyPr wrap="none">
            <a:spAutoFit/>
          </a:bodyPr>
          <a:lstStyle/>
          <a:p>
            <a:pPr>
              <a:defRPr sz="2800" b="1">
                <a:solidFill>
                  <a:srgbClr val="242D46"/>
                </a:solidFill>
                <a:latin typeface="Aptos Display"/>
              </a:defRPr>
            </a:pPr>
            <a:r>
              <a:t>Challenge Selected</a:t>
            </a:r>
          </a:p>
        </p:txBody>
      </p:sp>
      <p:sp>
        <p:nvSpPr>
          <p:cNvPr id="4" name="TextBox 3"/>
          <p:cNvSpPr txBox="1"/>
          <p:nvPr/>
        </p:nvSpPr>
        <p:spPr>
          <a:xfrm>
            <a:off x="530352" y="932688"/>
            <a:ext cx="10972800" cy="365760"/>
          </a:xfrm>
          <a:prstGeom prst="rect">
            <a:avLst/>
          </a:prstGeom>
          <a:noFill/>
        </p:spPr>
        <p:txBody>
          <a:bodyPr wrap="none">
            <a:spAutoFit/>
          </a:bodyPr>
          <a:lstStyle/>
          <a:p>
            <a:pPr>
              <a:defRPr sz="1400">
                <a:solidFill>
                  <a:srgbClr val="696973"/>
                </a:solidFill>
                <a:latin typeface="Aptos"/>
              </a:defRPr>
            </a:pPr>
            <a:r>
              <a:t>Women’s Health &amp; Wellness</a:t>
            </a:r>
          </a:p>
        </p:txBody>
      </p:sp>
      <p:sp>
        <p:nvSpPr>
          <p:cNvPr id="5" name="TextBox 4"/>
          <p:cNvSpPr txBox="1"/>
          <p:nvPr/>
        </p:nvSpPr>
        <p:spPr>
          <a:xfrm>
            <a:off x="594360" y="1298448"/>
            <a:ext cx="10972800" cy="5074920"/>
          </a:xfrm>
          <a:prstGeom prst="rect">
            <a:avLst/>
          </a:prstGeom>
          <a:noFill/>
        </p:spPr>
        <p:txBody>
          <a:bodyPr wrap="square" lIns="45720" rIns="45720">
            <a:spAutoFit/>
          </a:bodyPr>
          <a:lstStyle/>
          <a:p>
            <a:pPr>
              <a:spcAft>
                <a:spcPts val="800"/>
              </a:spcAft>
              <a:defRPr sz="1800">
                <a:solidFill>
                  <a:srgbClr val="2D2D37"/>
                </a:solidFill>
                <a:latin typeface="Aptos"/>
              </a:defRPr>
            </a:pPr>
            <a:r>
              <a:t>Women may have a health concern but often do not know whether it matters, what it means, what to do next, what to ask a healthcare professional, or when urgent care may be needed.</a:t>
            </a:r>
          </a:p>
          <a:p>
            <a:pPr>
              <a:spcAft>
                <a:spcPts val="800"/>
              </a:spcAft>
              <a:defRPr sz="1800">
                <a:solidFill>
                  <a:srgbClr val="2D2D37"/>
                </a:solidFill>
                <a:latin typeface="Aptos"/>
              </a:defRPr>
            </a:pPr>
            <a:r>
              <a:t>Our focus: bridge the gap between health uncertainty and appropriate action using a multilingual, privacy-conscious GenAI Health Navigation Assistant.</a:t>
            </a:r>
          </a:p>
          <a:p>
            <a:pPr>
              <a:spcAft>
                <a:spcPts val="800"/>
              </a:spcAft>
              <a:defRPr sz="1800">
                <a:solidFill>
                  <a:srgbClr val="2D2D37"/>
                </a:solidFill>
                <a:latin typeface="Aptos"/>
              </a:defRPr>
            </a:pPr>
            <a:r>
              <a:t>Core principle: HerNext navigates — it does not diagnose.</a:t>
            </a:r>
          </a:p>
        </p:txBody>
      </p:sp>
      <p:sp>
        <p:nvSpPr>
          <p:cNvPr id="6" name="TextBox 5"/>
          <p:cNvSpPr txBox="1"/>
          <p:nvPr/>
        </p:nvSpPr>
        <p:spPr>
          <a:xfrm>
            <a:off x="502920" y="6510528"/>
            <a:ext cx="10972800" cy="182880"/>
          </a:xfrm>
          <a:prstGeom prst="rect">
            <a:avLst/>
          </a:prstGeom>
          <a:noFill/>
        </p:spPr>
        <p:txBody>
          <a:bodyPr wrap="none">
            <a:spAutoFit/>
          </a:bodyPr>
          <a:lstStyle/>
          <a:p>
            <a:pPr algn="r">
              <a:defRPr sz="800">
                <a:solidFill>
                  <a:srgbClr val="696973"/>
                </a:solidFill>
                <a:latin typeface="Aptos"/>
              </a:defRPr>
            </a:pPr>
            <a:r>
              <a:t>HerNext — Women’s Health Navigator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109728"/>
          </a:xfrm>
          <a:prstGeom prst="rect">
            <a:avLst/>
          </a:prstGeom>
          <a:solidFill>
            <a:srgbClr val="674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594360"/>
          </a:xfrm>
          <a:prstGeom prst="rect">
            <a:avLst/>
          </a:prstGeom>
          <a:noFill/>
        </p:spPr>
        <p:txBody>
          <a:bodyPr wrap="none">
            <a:spAutoFit/>
          </a:bodyPr>
          <a:lstStyle/>
          <a:p>
            <a:pPr>
              <a:defRPr sz="2800" b="1">
                <a:solidFill>
                  <a:srgbClr val="242D46"/>
                </a:solidFill>
                <a:latin typeface="Aptos Display"/>
              </a:defRPr>
            </a:pPr>
            <a:r>
              <a:t>User &amp; Problem Definition</a:t>
            </a:r>
          </a:p>
        </p:txBody>
      </p:sp>
      <p:sp>
        <p:nvSpPr>
          <p:cNvPr id="4" name="TextBox 3"/>
          <p:cNvSpPr txBox="1"/>
          <p:nvPr/>
        </p:nvSpPr>
        <p:spPr>
          <a:xfrm>
            <a:off x="530352" y="932688"/>
            <a:ext cx="10972800" cy="365760"/>
          </a:xfrm>
          <a:prstGeom prst="rect">
            <a:avLst/>
          </a:prstGeom>
          <a:noFill/>
        </p:spPr>
        <p:txBody>
          <a:bodyPr wrap="none">
            <a:spAutoFit/>
          </a:bodyPr>
          <a:lstStyle/>
          <a:p>
            <a:pPr>
              <a:defRPr sz="1400">
                <a:solidFill>
                  <a:srgbClr val="696973"/>
                </a:solidFill>
                <a:latin typeface="Aptos"/>
              </a:defRPr>
            </a:pPr>
            <a:r>
              <a:t>Maximum 100 words</a:t>
            </a:r>
          </a:p>
        </p:txBody>
      </p:sp>
      <p:sp>
        <p:nvSpPr>
          <p:cNvPr id="5" name="TextBox 4"/>
          <p:cNvSpPr txBox="1"/>
          <p:nvPr/>
        </p:nvSpPr>
        <p:spPr>
          <a:xfrm>
            <a:off x="594360" y="1298448"/>
            <a:ext cx="10972800" cy="5074920"/>
          </a:xfrm>
          <a:prstGeom prst="rect">
            <a:avLst/>
          </a:prstGeom>
          <a:noFill/>
        </p:spPr>
        <p:txBody>
          <a:bodyPr wrap="square" lIns="45720" rIns="45720">
            <a:spAutoFit/>
          </a:bodyPr>
          <a:lstStyle/>
          <a:p>
            <a:pPr>
              <a:spcAft>
                <a:spcPts val="800"/>
              </a:spcAft>
              <a:defRPr sz="1800">
                <a:solidFill>
                  <a:srgbClr val="2D2D37"/>
                </a:solidFill>
                <a:latin typeface="Aptos"/>
              </a:defRPr>
            </a:pPr>
            <a:r>
              <a:t>Women may struggle to understand health concerns because medical information can be technical, confusing, contradictory or difficult to access. Sensitive topics can also make women hesitant to seek help. Generic symptom checkers may provide unsafe or overconfident conclusions.</a:t>
            </a:r>
          </a:p>
          <a:p>
            <a:pPr>
              <a:spcAft>
                <a:spcPts val="800"/>
              </a:spcAft>
              <a:defRPr sz="1800">
                <a:solidFill>
                  <a:srgbClr val="2D2D37"/>
                </a:solidFill>
                <a:latin typeface="Aptos"/>
              </a:defRPr>
            </a:pPr>
            <a:r>
              <a:t>Unmet need: a trusted way to understand a concern without receiving an AI diagnosis.</a:t>
            </a:r>
          </a:p>
          <a:p>
            <a:pPr>
              <a:spcAft>
                <a:spcPts val="800"/>
              </a:spcAft>
              <a:defRPr sz="1800">
                <a:solidFill>
                  <a:srgbClr val="2D2D37"/>
                </a:solidFill>
                <a:latin typeface="Aptos"/>
              </a:defRPr>
            </a:pPr>
            <a:r>
              <a:t>Success outcome: “I understand my concern, know my appropriate next step, know what to ask a healthcare professional, and know when urgent help may be needed.”</a:t>
            </a:r>
          </a:p>
        </p:txBody>
      </p:sp>
      <p:sp>
        <p:nvSpPr>
          <p:cNvPr id="6" name="TextBox 5"/>
          <p:cNvSpPr txBox="1"/>
          <p:nvPr/>
        </p:nvSpPr>
        <p:spPr>
          <a:xfrm>
            <a:off x="502920" y="6510528"/>
            <a:ext cx="10972800" cy="182880"/>
          </a:xfrm>
          <a:prstGeom prst="rect">
            <a:avLst/>
          </a:prstGeom>
          <a:noFill/>
        </p:spPr>
        <p:txBody>
          <a:bodyPr wrap="none">
            <a:spAutoFit/>
          </a:bodyPr>
          <a:lstStyle/>
          <a:p>
            <a:pPr algn="r">
              <a:defRPr sz="800">
                <a:solidFill>
                  <a:srgbClr val="696973"/>
                </a:solidFill>
                <a:latin typeface="Aptos"/>
              </a:defRPr>
            </a:pPr>
            <a:r>
              <a:t>HerNext — Women’s Health Navigator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109728"/>
          </a:xfrm>
          <a:prstGeom prst="rect">
            <a:avLst/>
          </a:prstGeom>
          <a:solidFill>
            <a:srgbClr val="674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594360"/>
          </a:xfrm>
          <a:prstGeom prst="rect">
            <a:avLst/>
          </a:prstGeom>
          <a:noFill/>
        </p:spPr>
        <p:txBody>
          <a:bodyPr wrap="none">
            <a:spAutoFit/>
          </a:bodyPr>
          <a:lstStyle/>
          <a:p>
            <a:pPr>
              <a:defRPr sz="2800" b="1">
                <a:solidFill>
                  <a:srgbClr val="242D46"/>
                </a:solidFill>
                <a:latin typeface="Aptos Display"/>
              </a:defRPr>
            </a:pPr>
            <a:r>
              <a:t>Proposed Solution — HerNext</a:t>
            </a:r>
          </a:p>
        </p:txBody>
      </p:sp>
      <p:sp>
        <p:nvSpPr>
          <p:cNvPr id="4" name="TextBox 3"/>
          <p:cNvSpPr txBox="1"/>
          <p:nvPr/>
        </p:nvSpPr>
        <p:spPr>
          <a:xfrm>
            <a:off x="530352" y="932688"/>
            <a:ext cx="10972800" cy="365760"/>
          </a:xfrm>
          <a:prstGeom prst="rect">
            <a:avLst/>
          </a:prstGeom>
          <a:noFill/>
        </p:spPr>
        <p:txBody>
          <a:bodyPr wrap="none">
            <a:spAutoFit/>
          </a:bodyPr>
          <a:lstStyle/>
          <a:p>
            <a:pPr>
              <a:defRPr sz="1400">
                <a:solidFill>
                  <a:srgbClr val="696973"/>
                </a:solidFill>
                <a:latin typeface="Aptos"/>
              </a:defRPr>
            </a:pPr>
            <a:r>
              <a:t>Women’s Health Navigator</a:t>
            </a:r>
          </a:p>
        </p:txBody>
      </p:sp>
      <p:sp>
        <p:nvSpPr>
          <p:cNvPr id="5" name="TextBox 4"/>
          <p:cNvSpPr txBox="1"/>
          <p:nvPr/>
        </p:nvSpPr>
        <p:spPr>
          <a:xfrm>
            <a:off x="594360" y="1298448"/>
            <a:ext cx="10972800" cy="5074920"/>
          </a:xfrm>
          <a:prstGeom prst="rect">
            <a:avLst/>
          </a:prstGeom>
          <a:noFill/>
        </p:spPr>
        <p:txBody>
          <a:bodyPr wrap="square" lIns="45720" rIns="45720">
            <a:spAutoFit/>
          </a:bodyPr>
          <a:lstStyle/>
          <a:p>
            <a:pPr>
              <a:spcAft>
                <a:spcPts val="800"/>
              </a:spcAft>
              <a:defRPr sz="1800">
                <a:solidFill>
                  <a:srgbClr val="2D2D37"/>
                </a:solidFill>
                <a:latin typeface="Aptos"/>
              </a:defRPr>
            </a:pPr>
            <a:r>
              <a:t>HerNext helps women move from uncertainty to informed action.</a:t>
            </a:r>
          </a:p>
          <a:p>
            <a:pPr>
              <a:spcAft>
                <a:spcPts val="800"/>
              </a:spcAft>
              <a:defRPr sz="1800">
                <a:solidFill>
                  <a:srgbClr val="2D2D37"/>
                </a:solidFill>
                <a:latin typeface="Aptos"/>
              </a:defRPr>
            </a:pPr>
            <a:r>
              <a:t>1. Share a concern — naturally in English or Telugu.</a:t>
            </a:r>
          </a:p>
          <a:p>
            <a:pPr>
              <a:spcAft>
                <a:spcPts val="800"/>
              </a:spcAft>
              <a:defRPr sz="1800">
                <a:solidFill>
                  <a:srgbClr val="2D2D37"/>
                </a:solidFill>
                <a:latin typeface="Aptos"/>
              </a:defRPr>
            </a:pPr>
            <a:r>
              <a:t>2. Ask only what matters — minimum-necessary, relevant follow-up questions.</a:t>
            </a:r>
          </a:p>
          <a:p>
            <a:pPr>
              <a:spcAft>
                <a:spcPts val="800"/>
              </a:spcAft>
              <a:defRPr sz="1800">
                <a:solidFill>
                  <a:srgbClr val="2D2D37"/>
                </a:solidFill>
                <a:latin typeface="Aptos"/>
              </a:defRPr>
            </a:pPr>
            <a:r>
              <a:t>3. Understand — summarize the concern and explain medical terms in simple language.</a:t>
            </a:r>
          </a:p>
          <a:p>
            <a:pPr>
              <a:spcAft>
                <a:spcPts val="800"/>
              </a:spcAft>
              <a:defRPr sz="1800">
                <a:solidFill>
                  <a:srgbClr val="2D2D37"/>
                </a:solidFill>
                <a:latin typeface="Aptos"/>
              </a:defRPr>
            </a:pPr>
            <a:r>
              <a:t>4. Safety check — identify potentially concerning warning signs.</a:t>
            </a:r>
          </a:p>
          <a:p>
            <a:pPr>
              <a:spcAft>
                <a:spcPts val="800"/>
              </a:spcAft>
              <a:defRPr sz="1800">
                <a:solidFill>
                  <a:srgbClr val="2D2D37"/>
                </a:solidFill>
                <a:latin typeface="Aptos"/>
              </a:defRPr>
            </a:pPr>
            <a:r>
              <a:t>5. Navigate — 🟢 Monitor / General Information  |  🟡 Routine Healthcare Consultation  |  🔴 Prompt / Urgent Professional Care.</a:t>
            </a:r>
          </a:p>
          <a:p>
            <a:pPr>
              <a:spcAft>
                <a:spcPts val="800"/>
              </a:spcAft>
              <a:defRPr sz="1800">
                <a:solidFill>
                  <a:srgbClr val="2D2D37"/>
                </a:solidFill>
                <a:latin typeface="Aptos"/>
              </a:defRPr>
            </a:pPr>
            <a:r>
              <a:t>6. Prepare — personalized healthcare questions and a concise consultation summary.</a:t>
            </a:r>
          </a:p>
          <a:p>
            <a:pPr>
              <a:spcAft>
                <a:spcPts val="800"/>
              </a:spcAft>
              <a:defRPr sz="1800">
                <a:solidFill>
                  <a:srgbClr val="2D2D37"/>
                </a:solidFill>
                <a:latin typeface="Aptos"/>
              </a:defRPr>
            </a:pPr>
            <a:r>
              <a:t>Distinctive approach: it answers “What should I understand and do next?” rather than “What disease do I have?”</a:t>
            </a:r>
          </a:p>
        </p:txBody>
      </p:sp>
      <p:sp>
        <p:nvSpPr>
          <p:cNvPr id="6" name="TextBox 5"/>
          <p:cNvSpPr txBox="1"/>
          <p:nvPr/>
        </p:nvSpPr>
        <p:spPr>
          <a:xfrm>
            <a:off x="502920" y="6510528"/>
            <a:ext cx="10972800" cy="182880"/>
          </a:xfrm>
          <a:prstGeom prst="rect">
            <a:avLst/>
          </a:prstGeom>
          <a:noFill/>
        </p:spPr>
        <p:txBody>
          <a:bodyPr wrap="none">
            <a:spAutoFit/>
          </a:bodyPr>
          <a:lstStyle/>
          <a:p>
            <a:pPr algn="r">
              <a:defRPr sz="800">
                <a:solidFill>
                  <a:srgbClr val="696973"/>
                </a:solidFill>
                <a:latin typeface="Aptos"/>
              </a:defRPr>
            </a:pPr>
            <a:r>
              <a:t>HerNext — Women’s Health Navigator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109728"/>
          </a:xfrm>
          <a:prstGeom prst="rect">
            <a:avLst/>
          </a:prstGeom>
          <a:solidFill>
            <a:srgbClr val="674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594360"/>
          </a:xfrm>
          <a:prstGeom prst="rect">
            <a:avLst/>
          </a:prstGeom>
          <a:noFill/>
        </p:spPr>
        <p:txBody>
          <a:bodyPr wrap="none">
            <a:spAutoFit/>
          </a:bodyPr>
          <a:lstStyle/>
          <a:p>
            <a:pPr>
              <a:defRPr sz="2800" b="1">
                <a:solidFill>
                  <a:srgbClr val="242D46"/>
                </a:solidFill>
                <a:latin typeface="Aptos Display"/>
              </a:defRPr>
            </a:pPr>
            <a:r>
              <a:t>GenAI Workflow / System Design</a:t>
            </a:r>
          </a:p>
        </p:txBody>
      </p:sp>
      <p:sp>
        <p:nvSpPr>
          <p:cNvPr id="4" name="TextBox 3"/>
          <p:cNvSpPr txBox="1"/>
          <p:nvPr/>
        </p:nvSpPr>
        <p:spPr>
          <a:xfrm>
            <a:off x="530352" y="932688"/>
            <a:ext cx="10972800" cy="365760"/>
          </a:xfrm>
          <a:prstGeom prst="rect">
            <a:avLst/>
          </a:prstGeom>
          <a:noFill/>
        </p:spPr>
        <p:txBody>
          <a:bodyPr wrap="none">
            <a:spAutoFit/>
          </a:bodyPr>
          <a:lstStyle/>
          <a:p>
            <a:pPr>
              <a:defRPr sz="1400">
                <a:solidFill>
                  <a:srgbClr val="696973"/>
                </a:solidFill>
                <a:latin typeface="Aptos"/>
              </a:defRPr>
            </a:pPr>
            <a:r>
              <a:t>From user concern to an appropriate next step</a:t>
            </a:r>
          </a:p>
        </p:txBody>
      </p:sp>
      <p:sp>
        <p:nvSpPr>
          <p:cNvPr id="5" name="TextBox 4"/>
          <p:cNvSpPr txBox="1"/>
          <p:nvPr/>
        </p:nvSpPr>
        <p:spPr>
          <a:xfrm>
            <a:off x="594360" y="1298448"/>
            <a:ext cx="10972800" cy="5074920"/>
          </a:xfrm>
          <a:prstGeom prst="rect">
            <a:avLst/>
          </a:prstGeom>
          <a:noFill/>
        </p:spPr>
        <p:txBody>
          <a:bodyPr wrap="square" lIns="45720" rIns="45720">
            <a:spAutoFit/>
          </a:bodyPr>
          <a:lstStyle/>
          <a:p>
            <a:pPr>
              <a:spcAft>
                <a:spcPts val="800"/>
              </a:spcAft>
              <a:defRPr sz="1800">
                <a:solidFill>
                  <a:srgbClr val="2D2D37"/>
                </a:solidFill>
                <a:latin typeface="Aptos"/>
              </a:defRPr>
            </a:pPr>
            <a:r>
              <a:t>USER HEALTH CONCERN → LANGUAGE / LITERACY ADAPTATION → MINIMUM NECESSARY QUESTIONS → GENAI HEALTH EDUCATION → SAFETY + RED-FLAG CHECK → NAVIGATION DECISION → WHY THIS NEXT STEP? → DOCTOR QUESTIONS → CONSULTATION SUMMARY → USER’S NEXT STEP</a:t>
            </a:r>
          </a:p>
          <a:p>
            <a:pPr>
              <a:spcAft>
                <a:spcPts val="800"/>
              </a:spcAft>
              <a:defRPr sz="1800">
                <a:solidFill>
                  <a:srgbClr val="2D2D37"/>
                </a:solidFill>
                <a:latin typeface="Aptos"/>
              </a:defRPr>
            </a:pPr>
            <a:r>
              <a:t>GenAI role: understand natural-language concerns, simplify health information, adapt language/explanation level, generate healthcare questions and consultation summaries.</a:t>
            </a:r>
          </a:p>
          <a:p>
            <a:pPr>
              <a:spcAft>
                <a:spcPts val="800"/>
              </a:spcAft>
              <a:defRPr sz="1800">
                <a:solidFill>
                  <a:srgbClr val="2D2D37"/>
                </a:solidFill>
                <a:latin typeface="Aptos"/>
              </a:defRPr>
            </a:pPr>
            <a:r>
              <a:t>Safety layer: non-diagnostic instructions, red-flag awareness, uncertainty communication, professional-care escalation and privacy-conscious information collection.</a:t>
            </a:r>
          </a:p>
          <a:p>
            <a:pPr>
              <a:spcAft>
                <a:spcPts val="800"/>
              </a:spcAft>
              <a:defRPr sz="1800">
                <a:solidFill>
                  <a:srgbClr val="2D2D37"/>
                </a:solidFill>
                <a:latin typeface="Aptos"/>
              </a:defRPr>
            </a:pPr>
            <a:r>
              <a:t>Human oversight: HerNext does not replace a qualified healthcare professional.</a:t>
            </a:r>
          </a:p>
        </p:txBody>
      </p:sp>
      <p:sp>
        <p:nvSpPr>
          <p:cNvPr id="6" name="TextBox 5"/>
          <p:cNvSpPr txBox="1"/>
          <p:nvPr/>
        </p:nvSpPr>
        <p:spPr>
          <a:xfrm>
            <a:off x="502920" y="6510528"/>
            <a:ext cx="10972800" cy="182880"/>
          </a:xfrm>
          <a:prstGeom prst="rect">
            <a:avLst/>
          </a:prstGeom>
          <a:noFill/>
        </p:spPr>
        <p:txBody>
          <a:bodyPr wrap="none">
            <a:spAutoFit/>
          </a:bodyPr>
          <a:lstStyle/>
          <a:p>
            <a:pPr algn="r">
              <a:defRPr sz="800">
                <a:solidFill>
                  <a:srgbClr val="696973"/>
                </a:solidFill>
                <a:latin typeface="Aptos"/>
              </a:defRPr>
            </a:pPr>
            <a:r>
              <a:t>HerNext — Women’s Health Navigator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109728"/>
          </a:xfrm>
          <a:prstGeom prst="rect">
            <a:avLst/>
          </a:prstGeom>
          <a:solidFill>
            <a:srgbClr val="674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594360"/>
          </a:xfrm>
          <a:prstGeom prst="rect">
            <a:avLst/>
          </a:prstGeom>
          <a:noFill/>
        </p:spPr>
        <p:txBody>
          <a:bodyPr wrap="none">
            <a:spAutoFit/>
          </a:bodyPr>
          <a:lstStyle/>
          <a:p>
            <a:pPr>
              <a:defRPr sz="2800" b="1">
                <a:solidFill>
                  <a:srgbClr val="242D46"/>
                </a:solidFill>
                <a:latin typeface="Aptos Display"/>
              </a:defRPr>
            </a:pPr>
            <a:r>
              <a:t>Mandatory Progress Evidence — 10:00 AM</a:t>
            </a:r>
          </a:p>
        </p:txBody>
      </p:sp>
      <p:sp>
        <p:nvSpPr>
          <p:cNvPr id="4" name="TextBox 3"/>
          <p:cNvSpPr txBox="1"/>
          <p:nvPr/>
        </p:nvSpPr>
        <p:spPr>
          <a:xfrm>
            <a:off x="530352" y="932688"/>
            <a:ext cx="10972800" cy="365760"/>
          </a:xfrm>
          <a:prstGeom prst="rect">
            <a:avLst/>
          </a:prstGeom>
          <a:noFill/>
        </p:spPr>
        <p:txBody>
          <a:bodyPr wrap="none">
            <a:spAutoFit/>
          </a:bodyPr>
          <a:lstStyle/>
          <a:p>
            <a:pPr>
              <a:defRPr sz="1400">
                <a:solidFill>
                  <a:srgbClr val="696973"/>
                </a:solidFill>
                <a:latin typeface="Aptos"/>
              </a:defRPr>
            </a:pPr>
            <a:r>
              <a:t>Early build — replace the placeholder with your actual uncropped screenshot showing device time</a:t>
            </a:r>
          </a:p>
        </p:txBody>
      </p:sp>
      <p:sp>
        <p:nvSpPr>
          <p:cNvPr id="5" name="TextBox 4"/>
          <p:cNvSpPr txBox="1"/>
          <p:nvPr/>
        </p:nvSpPr>
        <p:spPr>
          <a:xfrm>
            <a:off x="594360" y="1298448"/>
            <a:ext cx="10972800" cy="5074920"/>
          </a:xfrm>
          <a:prstGeom prst="rect">
            <a:avLst/>
          </a:prstGeom>
          <a:noFill/>
        </p:spPr>
        <p:txBody>
          <a:bodyPr wrap="square" lIns="45720" rIns="45720">
            <a:spAutoFit/>
          </a:bodyPr>
          <a:lstStyle/>
          <a:p>
            <a:pPr>
              <a:spcAft>
                <a:spcPts val="800"/>
              </a:spcAft>
              <a:defRPr sz="1800">
                <a:solidFill>
                  <a:srgbClr val="2D2D37"/>
                </a:solidFill>
                <a:latin typeface="Aptos"/>
              </a:defRPr>
            </a:pPr>
            <a:r>
              <a:t>10:00 AM — Initial HerNext structure and core GenAI health-navigation interaction established.</a:t>
            </a:r>
          </a:p>
          <a:p>
            <a:pPr>
              <a:spcAft>
                <a:spcPts val="800"/>
              </a:spcAft>
              <a:defRPr sz="1800">
                <a:solidFill>
                  <a:srgbClr val="2D2D37"/>
                </a:solidFill>
                <a:latin typeface="Aptos"/>
              </a:defRPr>
            </a:pPr>
            <a:r>
              <a:t>PLACEHOLDER: Insert your actual 10:00 AM screenshot here.</a:t>
            </a:r>
          </a:p>
        </p:txBody>
      </p:sp>
      <p:sp>
        <p:nvSpPr>
          <p:cNvPr id="6" name="Rounded Rectangle 5"/>
          <p:cNvSpPr/>
          <p:nvPr/>
        </p:nvSpPr>
        <p:spPr>
          <a:xfrm>
            <a:off x="6492240" y="1417320"/>
            <a:ext cx="4663440" cy="4206240"/>
          </a:xfrm>
          <a:prstGeom prst="roundRect">
            <a:avLst/>
          </a:prstGeom>
          <a:solidFill>
            <a:srgbClr val="F6F4FA"/>
          </a:solidFill>
          <a:ln>
            <a:solidFill>
              <a:srgbClr val="674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674D91"/>
                </a:solidFill>
              </a:defRPr>
            </a:pPr>
            <a:r>
              <a:t>INSERT ACTUAL</a:t>
            </a:r>
          </a:p>
          <a:p>
            <a:pPr algn="ctr">
              <a:defRPr sz="2200" b="1">
                <a:solidFill>
                  <a:srgbClr val="674D91"/>
                </a:solidFill>
              </a:defRPr>
            </a:pPr>
            <a:r>
              <a:t>10:00 AM SCREENSHOT</a:t>
            </a:r>
          </a:p>
        </p:txBody>
      </p:sp>
      <p:sp>
        <p:nvSpPr>
          <p:cNvPr id="7" name="TextBox 6"/>
          <p:cNvSpPr txBox="1"/>
          <p:nvPr/>
        </p:nvSpPr>
        <p:spPr>
          <a:xfrm>
            <a:off x="502920" y="6510528"/>
            <a:ext cx="10972800" cy="182880"/>
          </a:xfrm>
          <a:prstGeom prst="rect">
            <a:avLst/>
          </a:prstGeom>
          <a:noFill/>
        </p:spPr>
        <p:txBody>
          <a:bodyPr wrap="none">
            <a:spAutoFit/>
          </a:bodyPr>
          <a:lstStyle/>
          <a:p>
            <a:pPr algn="r">
              <a:defRPr sz="800">
                <a:solidFill>
                  <a:srgbClr val="696973"/>
                </a:solidFill>
                <a:latin typeface="Aptos"/>
              </a:defRPr>
            </a:pPr>
            <a:r>
              <a:t>HerNext — Women’s Health Navigator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109728"/>
          </a:xfrm>
          <a:prstGeom prst="rect">
            <a:avLst/>
          </a:prstGeom>
          <a:solidFill>
            <a:srgbClr val="674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594360"/>
          </a:xfrm>
          <a:prstGeom prst="rect">
            <a:avLst/>
          </a:prstGeom>
          <a:noFill/>
        </p:spPr>
        <p:txBody>
          <a:bodyPr wrap="none">
            <a:spAutoFit/>
          </a:bodyPr>
          <a:lstStyle/>
          <a:p>
            <a:pPr>
              <a:defRPr sz="2800" b="1">
                <a:solidFill>
                  <a:srgbClr val="242D46"/>
                </a:solidFill>
                <a:latin typeface="Aptos Display"/>
              </a:defRPr>
            </a:pPr>
            <a:r>
              <a:t>Mandatory Progress Evidence — 12:00 PM</a:t>
            </a:r>
          </a:p>
        </p:txBody>
      </p:sp>
      <p:sp>
        <p:nvSpPr>
          <p:cNvPr id="4" name="TextBox 3"/>
          <p:cNvSpPr txBox="1"/>
          <p:nvPr/>
        </p:nvSpPr>
        <p:spPr>
          <a:xfrm>
            <a:off x="530352" y="932688"/>
            <a:ext cx="10972800" cy="365760"/>
          </a:xfrm>
          <a:prstGeom prst="rect">
            <a:avLst/>
          </a:prstGeom>
          <a:noFill/>
        </p:spPr>
        <p:txBody>
          <a:bodyPr wrap="none">
            <a:spAutoFit/>
          </a:bodyPr>
          <a:lstStyle/>
          <a:p>
            <a:pPr>
              <a:defRPr sz="1400">
                <a:solidFill>
                  <a:srgbClr val="696973"/>
                </a:solidFill>
                <a:latin typeface="Aptos"/>
              </a:defRPr>
            </a:pPr>
            <a:r>
              <a:t>Developed build — replace the placeholder with your actual uncropped screenshot showing device time</a:t>
            </a:r>
          </a:p>
        </p:txBody>
      </p:sp>
      <p:sp>
        <p:nvSpPr>
          <p:cNvPr id="5" name="TextBox 4"/>
          <p:cNvSpPr txBox="1"/>
          <p:nvPr/>
        </p:nvSpPr>
        <p:spPr>
          <a:xfrm>
            <a:off x="594360" y="1298448"/>
            <a:ext cx="10972800" cy="5074920"/>
          </a:xfrm>
          <a:prstGeom prst="rect">
            <a:avLst/>
          </a:prstGeom>
          <a:noFill/>
        </p:spPr>
        <p:txBody>
          <a:bodyPr wrap="square" lIns="45720" rIns="45720">
            <a:spAutoFit/>
          </a:bodyPr>
          <a:lstStyle/>
          <a:p>
            <a:pPr>
              <a:spcAft>
                <a:spcPts val="800"/>
              </a:spcAft>
              <a:defRPr sz="1800">
                <a:solidFill>
                  <a:srgbClr val="2D2D37"/>
                </a:solidFill>
                <a:latin typeface="Aptos"/>
              </a:defRPr>
            </a:pPr>
            <a:r>
              <a:t>12:00 PM — Expanded prototype with the features actually implemented by this checkpoint.</a:t>
            </a:r>
          </a:p>
          <a:p>
            <a:pPr>
              <a:spcAft>
                <a:spcPts val="800"/>
              </a:spcAft>
              <a:defRPr sz="1800">
                <a:solidFill>
                  <a:srgbClr val="2D2D37"/>
                </a:solidFill>
                <a:latin typeface="Aptos"/>
              </a:defRPr>
            </a:pPr>
            <a:r>
              <a:t>PLACEHOLDER: Insert your actual 12:00 PM screenshot here.</a:t>
            </a:r>
          </a:p>
        </p:txBody>
      </p:sp>
      <p:sp>
        <p:nvSpPr>
          <p:cNvPr id="6" name="Rounded Rectangle 5"/>
          <p:cNvSpPr/>
          <p:nvPr/>
        </p:nvSpPr>
        <p:spPr>
          <a:xfrm>
            <a:off x="6492240" y="1417320"/>
            <a:ext cx="4663440" cy="4206240"/>
          </a:xfrm>
          <a:prstGeom prst="roundRect">
            <a:avLst/>
          </a:prstGeom>
          <a:solidFill>
            <a:srgbClr val="F6F4FA"/>
          </a:solidFill>
          <a:ln>
            <a:solidFill>
              <a:srgbClr val="674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674D91"/>
                </a:solidFill>
              </a:defRPr>
            </a:pPr>
            <a:r>
              <a:t>INSERT ACTUAL</a:t>
            </a:r>
          </a:p>
          <a:p>
            <a:pPr algn="ctr">
              <a:defRPr sz="2200" b="1">
                <a:solidFill>
                  <a:srgbClr val="674D91"/>
                </a:solidFill>
              </a:defRPr>
            </a:pPr>
            <a:r>
              <a:t>12:00 PM SCREENSHOT</a:t>
            </a:r>
          </a:p>
        </p:txBody>
      </p:sp>
      <p:sp>
        <p:nvSpPr>
          <p:cNvPr id="7" name="TextBox 6"/>
          <p:cNvSpPr txBox="1"/>
          <p:nvPr/>
        </p:nvSpPr>
        <p:spPr>
          <a:xfrm>
            <a:off x="502920" y="6510528"/>
            <a:ext cx="10972800" cy="182880"/>
          </a:xfrm>
          <a:prstGeom prst="rect">
            <a:avLst/>
          </a:prstGeom>
          <a:noFill/>
        </p:spPr>
        <p:txBody>
          <a:bodyPr wrap="none">
            <a:spAutoFit/>
          </a:bodyPr>
          <a:lstStyle/>
          <a:p>
            <a:pPr algn="r">
              <a:defRPr sz="800">
                <a:solidFill>
                  <a:srgbClr val="696973"/>
                </a:solidFill>
                <a:latin typeface="Aptos"/>
              </a:defRPr>
            </a:pPr>
            <a:r>
              <a:t>HerNext — Women’s Health Navigator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109728"/>
          </a:xfrm>
          <a:prstGeom prst="rect">
            <a:avLst/>
          </a:prstGeom>
          <a:solidFill>
            <a:srgbClr val="674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594360"/>
          </a:xfrm>
          <a:prstGeom prst="rect">
            <a:avLst/>
          </a:prstGeom>
          <a:noFill/>
        </p:spPr>
        <p:txBody>
          <a:bodyPr wrap="none">
            <a:spAutoFit/>
          </a:bodyPr>
          <a:lstStyle/>
          <a:p>
            <a:pPr>
              <a:defRPr sz="2800" b="1">
                <a:solidFill>
                  <a:srgbClr val="242D46"/>
                </a:solidFill>
                <a:latin typeface="Aptos Display"/>
              </a:defRPr>
            </a:pPr>
            <a:r>
              <a:t>AI Tools &amp; Prompts Used</a:t>
            </a:r>
          </a:p>
        </p:txBody>
      </p:sp>
      <p:sp>
        <p:nvSpPr>
          <p:cNvPr id="4" name="TextBox 3"/>
          <p:cNvSpPr txBox="1"/>
          <p:nvPr/>
        </p:nvSpPr>
        <p:spPr>
          <a:xfrm>
            <a:off x="530352" y="932688"/>
            <a:ext cx="10972800" cy="365760"/>
          </a:xfrm>
          <a:prstGeom prst="rect">
            <a:avLst/>
          </a:prstGeom>
          <a:noFill/>
        </p:spPr>
        <p:txBody>
          <a:bodyPr wrap="none">
            <a:spAutoFit/>
          </a:bodyPr>
          <a:lstStyle/>
          <a:p>
            <a:pPr>
              <a:defRPr sz="1400">
                <a:solidFill>
                  <a:srgbClr val="696973"/>
                </a:solidFill>
                <a:latin typeface="Aptos"/>
              </a:defRPr>
            </a:pPr>
            <a:r>
              <a:t>Primary build platform: AWS PartyRock / Amazon Bedrock GenAI</a:t>
            </a:r>
          </a:p>
        </p:txBody>
      </p:sp>
      <p:sp>
        <p:nvSpPr>
          <p:cNvPr id="5" name="TextBox 4"/>
          <p:cNvSpPr txBox="1"/>
          <p:nvPr/>
        </p:nvSpPr>
        <p:spPr>
          <a:xfrm>
            <a:off x="594360" y="1298448"/>
            <a:ext cx="10972800" cy="5074920"/>
          </a:xfrm>
          <a:prstGeom prst="rect">
            <a:avLst/>
          </a:prstGeom>
          <a:noFill/>
        </p:spPr>
        <p:txBody>
          <a:bodyPr wrap="square" lIns="45720" rIns="45720">
            <a:spAutoFit/>
          </a:bodyPr>
          <a:lstStyle/>
          <a:p>
            <a:pPr>
              <a:spcAft>
                <a:spcPts val="800"/>
              </a:spcAft>
              <a:defRPr sz="1800">
                <a:solidFill>
                  <a:srgbClr val="2D2D37"/>
                </a:solidFill>
                <a:latin typeface="Aptos"/>
              </a:defRPr>
            </a:pPr>
            <a:r>
              <a:t>Prompt 1 — Navigation: “Act as a women’s health navigation assistant. Help the user understand their concern in simple language and guide them toward an appropriate next step. Do not diagnose conditions or claim certainty.”</a:t>
            </a:r>
          </a:p>
          <a:p>
            <a:pPr>
              <a:spcAft>
                <a:spcPts val="800"/>
              </a:spcAft>
              <a:defRPr sz="1800">
                <a:solidFill>
                  <a:srgbClr val="2D2D37"/>
                </a:solidFill>
                <a:latin typeface="Aptos"/>
              </a:defRPr>
            </a:pPr>
            <a:r>
              <a:t>Prompt 2 — Safety: “Check the information provided for potentially concerning warning signs. Prioritize safety and recommend appropriate professional or urgent care when necessary.”</a:t>
            </a:r>
          </a:p>
          <a:p>
            <a:pPr>
              <a:spcAft>
                <a:spcPts val="800"/>
              </a:spcAft>
              <a:defRPr sz="1800">
                <a:solidFill>
                  <a:srgbClr val="2D2D37"/>
                </a:solidFill>
                <a:latin typeface="Aptos"/>
              </a:defRPr>
            </a:pPr>
            <a:r>
              <a:t>Prompt 3 — Consultation: “Generate a concise consultation summary and 3–5 useful questions the user can discuss with a qualified healthcare professional.”</a:t>
            </a:r>
          </a:p>
          <a:p>
            <a:pPr>
              <a:spcAft>
                <a:spcPts val="800"/>
              </a:spcAft>
              <a:defRPr sz="1800">
                <a:solidFill>
                  <a:srgbClr val="2D2D37"/>
                </a:solidFill>
                <a:latin typeface="Aptos"/>
              </a:defRPr>
            </a:pPr>
            <a:r>
              <a:t>Prompt refinement: fewer relevant questions; no diagnostic conclusions; improved readability; safety escalation; English/Telugu support; consultation preparation.</a:t>
            </a:r>
          </a:p>
          <a:p>
            <a:pPr>
              <a:spcAft>
                <a:spcPts val="800"/>
              </a:spcAft>
              <a:defRPr sz="1800">
                <a:solidFill>
                  <a:srgbClr val="2D2D37"/>
                </a:solidFill>
                <a:latin typeface="Aptos"/>
              </a:defRPr>
            </a:pPr>
            <a:r>
              <a:t>Only verified tools, references and outputs should be listed in the final submission.</a:t>
            </a:r>
          </a:p>
        </p:txBody>
      </p:sp>
      <p:sp>
        <p:nvSpPr>
          <p:cNvPr id="6" name="TextBox 5"/>
          <p:cNvSpPr txBox="1"/>
          <p:nvPr/>
        </p:nvSpPr>
        <p:spPr>
          <a:xfrm>
            <a:off x="502920" y="6510528"/>
            <a:ext cx="10972800" cy="182880"/>
          </a:xfrm>
          <a:prstGeom prst="rect">
            <a:avLst/>
          </a:prstGeom>
          <a:noFill/>
        </p:spPr>
        <p:txBody>
          <a:bodyPr wrap="none">
            <a:spAutoFit/>
          </a:bodyPr>
          <a:lstStyle/>
          <a:p>
            <a:pPr algn="r">
              <a:defRPr sz="800">
                <a:solidFill>
                  <a:srgbClr val="696973"/>
                </a:solidFill>
                <a:latin typeface="Aptos"/>
              </a:defRPr>
            </a:pPr>
            <a:r>
              <a:t>HerNext — Women’s Health Navigator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109728"/>
          </a:xfrm>
          <a:prstGeom prst="rect">
            <a:avLst/>
          </a:prstGeom>
          <a:solidFill>
            <a:srgbClr val="674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594360"/>
          </a:xfrm>
          <a:prstGeom prst="rect">
            <a:avLst/>
          </a:prstGeom>
          <a:noFill/>
        </p:spPr>
        <p:txBody>
          <a:bodyPr wrap="none">
            <a:spAutoFit/>
          </a:bodyPr>
          <a:lstStyle/>
          <a:p>
            <a:pPr>
              <a:defRPr sz="2800" b="1">
                <a:solidFill>
                  <a:srgbClr val="242D46"/>
                </a:solidFill>
                <a:latin typeface="Aptos Display"/>
              </a:defRPr>
            </a:pPr>
            <a:r>
              <a:t>Testing Performed and Results</a:t>
            </a:r>
          </a:p>
        </p:txBody>
      </p:sp>
      <p:sp>
        <p:nvSpPr>
          <p:cNvPr id="4" name="TextBox 3"/>
          <p:cNvSpPr txBox="1"/>
          <p:nvPr/>
        </p:nvSpPr>
        <p:spPr>
          <a:xfrm>
            <a:off x="530352" y="932688"/>
            <a:ext cx="10972800" cy="365760"/>
          </a:xfrm>
          <a:prstGeom prst="rect">
            <a:avLst/>
          </a:prstGeom>
          <a:noFill/>
        </p:spPr>
        <p:txBody>
          <a:bodyPr wrap="none">
            <a:spAutoFit/>
          </a:bodyPr>
          <a:lstStyle/>
          <a:p>
            <a:pPr>
              <a:defRPr sz="1400">
                <a:solidFill>
                  <a:srgbClr val="696973"/>
                </a:solidFill>
                <a:latin typeface="Aptos"/>
              </a:defRPr>
            </a:pPr>
            <a:r>
              <a:t>At least three scenarios, including a difficult input</a:t>
            </a:r>
          </a:p>
        </p:txBody>
      </p:sp>
      <p:sp>
        <p:nvSpPr>
          <p:cNvPr id="5" name="TextBox 4"/>
          <p:cNvSpPr txBox="1"/>
          <p:nvPr/>
        </p:nvSpPr>
        <p:spPr>
          <a:xfrm>
            <a:off x="594360" y="1298448"/>
            <a:ext cx="10972800" cy="5074920"/>
          </a:xfrm>
          <a:prstGeom prst="rect">
            <a:avLst/>
          </a:prstGeom>
          <a:noFill/>
        </p:spPr>
        <p:txBody>
          <a:bodyPr wrap="square" lIns="45720" rIns="45720">
            <a:spAutoFit/>
          </a:bodyPr>
          <a:lstStyle/>
          <a:p>
            <a:pPr>
              <a:spcAft>
                <a:spcPts val="800"/>
              </a:spcAft>
              <a:defRPr sz="1800">
                <a:solidFill>
                  <a:srgbClr val="2D2D37"/>
                </a:solidFill>
                <a:latin typeface="Aptos"/>
              </a:defRPr>
            </a:pPr>
            <a:r>
              <a:t>1. Irregular periods — Expected: relevant questions + simple explanation + next step. Actual: [enter your tested output]. Status: [PASS/IMPROVE].</a:t>
            </a:r>
          </a:p>
          <a:p>
            <a:pPr>
              <a:spcAft>
                <a:spcPts val="800"/>
              </a:spcAft>
              <a:defRPr sz="1800">
                <a:solidFill>
                  <a:srgbClr val="2D2D37"/>
                </a:solidFill>
                <a:latin typeface="Aptos"/>
              </a:defRPr>
            </a:pPr>
            <a:r>
              <a:t>2. Potential warning signs — Expected: prioritize safety + professional/urgent care. Actual: [enter your tested output]. Status: [PASS/IMPROVE].</a:t>
            </a:r>
          </a:p>
          <a:p>
            <a:pPr>
              <a:spcAft>
                <a:spcPts val="800"/>
              </a:spcAft>
              <a:defRPr sz="1800">
                <a:solidFill>
                  <a:srgbClr val="2D2D37"/>
                </a:solidFill>
                <a:latin typeface="Aptos"/>
              </a:defRPr>
            </a:pPr>
            <a:r>
              <a:t>3. Difficult input: “Do I have PCOS?” — Expected: no diagnosis; explain uncertainty; guide toward professional evaluation. Actual: [enter your tested output]. Status: [PASS/IMPROVE].</a:t>
            </a:r>
          </a:p>
          <a:p>
            <a:pPr>
              <a:spcAft>
                <a:spcPts val="800"/>
              </a:spcAft>
              <a:defRPr sz="1800">
                <a:solidFill>
                  <a:srgbClr val="2D2D37"/>
                </a:solidFill>
                <a:latin typeface="Aptos"/>
              </a:defRPr>
            </a:pPr>
            <a:r>
              <a:t>Testing focus: safety, clarity, relevance, multilingual understanding and non-diagnostic behavior.</a:t>
            </a:r>
          </a:p>
          <a:p>
            <a:pPr>
              <a:spcAft>
                <a:spcPts val="800"/>
              </a:spcAft>
              <a:defRPr sz="1800">
                <a:solidFill>
                  <a:srgbClr val="2D2D37"/>
                </a:solidFill>
                <a:latin typeface="Aptos"/>
              </a:defRPr>
            </a:pPr>
            <a:r>
              <a:t>Do not claim PASS unless the behaviour was actually tested.</a:t>
            </a:r>
          </a:p>
        </p:txBody>
      </p:sp>
      <p:sp>
        <p:nvSpPr>
          <p:cNvPr id="6" name="TextBox 5"/>
          <p:cNvSpPr txBox="1"/>
          <p:nvPr/>
        </p:nvSpPr>
        <p:spPr>
          <a:xfrm>
            <a:off x="502920" y="6510528"/>
            <a:ext cx="10972800" cy="182880"/>
          </a:xfrm>
          <a:prstGeom prst="rect">
            <a:avLst/>
          </a:prstGeom>
          <a:noFill/>
        </p:spPr>
        <p:txBody>
          <a:bodyPr wrap="none">
            <a:spAutoFit/>
          </a:bodyPr>
          <a:lstStyle/>
          <a:p>
            <a:pPr algn="r">
              <a:defRPr sz="800">
                <a:solidFill>
                  <a:srgbClr val="696973"/>
                </a:solidFill>
                <a:latin typeface="Aptos"/>
              </a:defRPr>
            </a:pPr>
            <a:r>
              <a:t>HerNext — Women’s Health Navigator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109728"/>
          </a:xfrm>
          <a:prstGeom prst="rect">
            <a:avLst/>
          </a:prstGeom>
          <a:solidFill>
            <a:srgbClr val="674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594360"/>
          </a:xfrm>
          <a:prstGeom prst="rect">
            <a:avLst/>
          </a:prstGeom>
          <a:noFill/>
        </p:spPr>
        <p:txBody>
          <a:bodyPr wrap="none">
            <a:spAutoFit/>
          </a:bodyPr>
          <a:lstStyle/>
          <a:p>
            <a:pPr>
              <a:defRPr sz="2800" b="1">
                <a:solidFill>
                  <a:srgbClr val="242D46"/>
                </a:solidFill>
                <a:latin typeface="Aptos Display"/>
              </a:defRPr>
            </a:pPr>
            <a:r>
              <a:t>Responsible AI Considerations</a:t>
            </a:r>
          </a:p>
        </p:txBody>
      </p:sp>
      <p:sp>
        <p:nvSpPr>
          <p:cNvPr id="4" name="TextBox 3"/>
          <p:cNvSpPr txBox="1"/>
          <p:nvPr/>
        </p:nvSpPr>
        <p:spPr>
          <a:xfrm>
            <a:off x="530352" y="932688"/>
            <a:ext cx="10972800" cy="365760"/>
          </a:xfrm>
          <a:prstGeom prst="rect">
            <a:avLst/>
          </a:prstGeom>
          <a:noFill/>
        </p:spPr>
        <p:txBody>
          <a:bodyPr wrap="none">
            <a:spAutoFit/>
          </a:bodyPr>
          <a:lstStyle/>
          <a:p>
            <a:pPr>
              <a:defRPr sz="1400">
                <a:solidFill>
                  <a:srgbClr val="696973"/>
                </a:solidFill>
                <a:latin typeface="Aptos"/>
              </a:defRPr>
            </a:pPr>
            <a:r>
              <a:t>Safety is built into the navigation experience</a:t>
            </a:r>
          </a:p>
        </p:txBody>
      </p:sp>
      <p:sp>
        <p:nvSpPr>
          <p:cNvPr id="5" name="TextBox 4"/>
          <p:cNvSpPr txBox="1"/>
          <p:nvPr/>
        </p:nvSpPr>
        <p:spPr>
          <a:xfrm>
            <a:off x="594360" y="1298448"/>
            <a:ext cx="10972800" cy="5074920"/>
          </a:xfrm>
          <a:prstGeom prst="rect">
            <a:avLst/>
          </a:prstGeom>
          <a:noFill/>
        </p:spPr>
        <p:txBody>
          <a:bodyPr wrap="square" lIns="45720" rIns="45720">
            <a:spAutoFit/>
          </a:bodyPr>
          <a:lstStyle/>
          <a:p>
            <a:pPr>
              <a:spcAft>
                <a:spcPts val="800"/>
              </a:spcAft>
              <a:defRPr sz="1800">
                <a:solidFill>
                  <a:srgbClr val="2D2D37"/>
                </a:solidFill>
                <a:latin typeface="Aptos"/>
              </a:defRPr>
            </a:pPr>
            <a:r>
              <a:t>AI diagnosis / overconfidence → Explicit non-diagnostic design.</a:t>
            </a:r>
          </a:p>
          <a:p>
            <a:pPr>
              <a:spcAft>
                <a:spcPts val="800"/>
              </a:spcAft>
              <a:defRPr sz="1800">
                <a:solidFill>
                  <a:srgbClr val="2D2D37"/>
                </a:solidFill>
                <a:latin typeface="Aptos"/>
              </a:defRPr>
            </a:pPr>
            <a:r>
              <a:t>Incorrect health information → Communicate uncertainty and encourage professional verification.</a:t>
            </a:r>
          </a:p>
          <a:p>
            <a:pPr>
              <a:spcAft>
                <a:spcPts val="800"/>
              </a:spcAft>
              <a:defRPr sz="1800">
                <a:solidFill>
                  <a:srgbClr val="2D2D37"/>
                </a:solidFill>
                <a:latin typeface="Aptos"/>
              </a:defRPr>
            </a:pPr>
            <a:r>
              <a:t>Missed warning signs → Safety / red-flag check and escalation.</a:t>
            </a:r>
          </a:p>
          <a:p>
            <a:pPr>
              <a:spcAft>
                <a:spcPts val="800"/>
              </a:spcAft>
              <a:defRPr sz="1800">
                <a:solidFill>
                  <a:srgbClr val="2D2D37"/>
                </a:solidFill>
                <a:latin typeface="Aptos"/>
              </a:defRPr>
            </a:pPr>
            <a:r>
              <a:t>Privacy risk → Minimum-necessary information; never request name, phone, address, email, government ID or other identifying information.</a:t>
            </a:r>
          </a:p>
          <a:p>
            <a:pPr>
              <a:spcAft>
                <a:spcPts val="800"/>
              </a:spcAft>
              <a:defRPr sz="1800">
                <a:solidFill>
                  <a:srgbClr val="2D2D37"/>
                </a:solidFill>
                <a:latin typeface="Aptos"/>
              </a:defRPr>
            </a:pPr>
            <a:r>
              <a:t>Language exclusion → English + Telugu; simple or detailed explanations.</a:t>
            </a:r>
          </a:p>
          <a:p>
            <a:pPr>
              <a:spcAft>
                <a:spcPts val="800"/>
              </a:spcAft>
              <a:defRPr sz="1800">
                <a:solidFill>
                  <a:srgbClr val="2D2D37"/>
                </a:solidFill>
                <a:latin typeface="Aptos"/>
              </a:defRPr>
            </a:pPr>
            <a:r>
              <a:t>Over-reliance → Clear boundary that AI does not replace a qualified healthcare professional.</a:t>
            </a:r>
          </a:p>
          <a:p>
            <a:pPr>
              <a:spcAft>
                <a:spcPts val="800"/>
              </a:spcAft>
              <a:defRPr sz="1800">
                <a:solidFill>
                  <a:srgbClr val="2D2D37"/>
                </a:solidFill>
                <a:latin typeface="Aptos"/>
              </a:defRPr>
            </a:pPr>
            <a:r>
              <a:t>Responsible AI principle: INFORM → NAVIGATE → ESCALATE WHEN NECESSARY — NEVER DIAGNOSE.</a:t>
            </a:r>
          </a:p>
        </p:txBody>
      </p:sp>
      <p:sp>
        <p:nvSpPr>
          <p:cNvPr id="6" name="TextBox 5"/>
          <p:cNvSpPr txBox="1"/>
          <p:nvPr/>
        </p:nvSpPr>
        <p:spPr>
          <a:xfrm>
            <a:off x="502920" y="6510528"/>
            <a:ext cx="10972800" cy="182880"/>
          </a:xfrm>
          <a:prstGeom prst="rect">
            <a:avLst/>
          </a:prstGeom>
          <a:noFill/>
        </p:spPr>
        <p:txBody>
          <a:bodyPr wrap="none">
            <a:spAutoFit/>
          </a:bodyPr>
          <a:lstStyle/>
          <a:p>
            <a:pPr algn="r">
              <a:defRPr sz="800">
                <a:solidFill>
                  <a:srgbClr val="696973"/>
                </a:solidFill>
                <a:latin typeface="Aptos"/>
              </a:defRPr>
            </a:pPr>
            <a:r>
              <a:t>HerNext — Women’s Health Navigator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109728"/>
          </a:xfrm>
          <a:prstGeom prst="rect">
            <a:avLst/>
          </a:prstGeom>
          <a:solidFill>
            <a:srgbClr val="674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594360"/>
          </a:xfrm>
          <a:prstGeom prst="rect">
            <a:avLst/>
          </a:prstGeom>
          <a:noFill/>
        </p:spPr>
        <p:txBody>
          <a:bodyPr wrap="none">
            <a:spAutoFit/>
          </a:bodyPr>
          <a:lstStyle/>
          <a:p>
            <a:pPr>
              <a:defRPr sz="2800" b="1">
                <a:solidFill>
                  <a:srgbClr val="242D46"/>
                </a:solidFill>
                <a:latin typeface="Aptos Display"/>
              </a:defRPr>
            </a:pPr>
            <a:r>
              <a:t>Impact, Feasibility &amp; Sustainability</a:t>
            </a:r>
          </a:p>
        </p:txBody>
      </p:sp>
      <p:sp>
        <p:nvSpPr>
          <p:cNvPr id="4" name="TextBox 3"/>
          <p:cNvSpPr txBox="1"/>
          <p:nvPr/>
        </p:nvSpPr>
        <p:spPr>
          <a:xfrm>
            <a:off x="530352" y="932688"/>
            <a:ext cx="10972800" cy="365760"/>
          </a:xfrm>
          <a:prstGeom prst="rect">
            <a:avLst/>
          </a:prstGeom>
          <a:noFill/>
        </p:spPr>
        <p:txBody>
          <a:bodyPr wrap="none">
            <a:spAutoFit/>
          </a:bodyPr>
          <a:lstStyle/>
          <a:p>
            <a:pPr>
              <a:defRPr sz="1400">
                <a:solidFill>
                  <a:srgbClr val="696973"/>
                </a:solidFill>
                <a:latin typeface="Aptos"/>
              </a:defRPr>
            </a:pPr>
            <a:r>
              <a:t>From prototype to scalable health navigation</a:t>
            </a:r>
          </a:p>
        </p:txBody>
      </p:sp>
      <p:sp>
        <p:nvSpPr>
          <p:cNvPr id="5" name="TextBox 4"/>
          <p:cNvSpPr txBox="1"/>
          <p:nvPr/>
        </p:nvSpPr>
        <p:spPr>
          <a:xfrm>
            <a:off x="594360" y="1298448"/>
            <a:ext cx="10972800" cy="5074920"/>
          </a:xfrm>
          <a:prstGeom prst="rect">
            <a:avLst/>
          </a:prstGeom>
          <a:noFill/>
        </p:spPr>
        <p:txBody>
          <a:bodyPr wrap="square" lIns="45720" rIns="45720">
            <a:spAutoFit/>
          </a:bodyPr>
          <a:lstStyle/>
          <a:p>
            <a:pPr>
              <a:spcAft>
                <a:spcPts val="800"/>
              </a:spcAft>
              <a:defRPr sz="1800">
                <a:solidFill>
                  <a:srgbClr val="2D2D37"/>
                </a:solidFill>
                <a:latin typeface="Aptos"/>
              </a:defRPr>
            </a:pPr>
            <a:r>
              <a:t>For women: better understanding of health concerns, greater confidence about next steps, easier access to understandable information, better consultation preparation and improved awareness of when professional care may be needed.</a:t>
            </a:r>
          </a:p>
          <a:p>
            <a:pPr>
              <a:spcAft>
                <a:spcPts val="800"/>
              </a:spcAft>
              <a:defRPr sz="1800">
                <a:solidFill>
                  <a:srgbClr val="2D2D37"/>
                </a:solidFill>
                <a:latin typeface="Aptos"/>
              </a:defRPr>
            </a:pPr>
            <a:r>
              <a:t>For healthcare navigation: organizes concerns before consultation, simplifies medical language, generates meaningful questions and encourages appropriate professional care rather than self-diagnosis.</a:t>
            </a:r>
          </a:p>
          <a:p>
            <a:pPr>
              <a:spcAft>
                <a:spcPts val="800"/>
              </a:spcAft>
              <a:defRPr sz="1800">
                <a:solidFill>
                  <a:srgbClr val="2D2D37"/>
                </a:solidFill>
                <a:latin typeface="Aptos"/>
              </a:defRPr>
            </a:pPr>
            <a:r>
              <a:t>Scalability: English + Telugu → more Indian languages; basic explanation → multiple literacy levels; prototype → broader women’s health-navigation ecosystem.</a:t>
            </a:r>
          </a:p>
          <a:p>
            <a:pPr>
              <a:spcAft>
                <a:spcPts val="800"/>
              </a:spcAft>
              <a:defRPr sz="1800">
                <a:solidFill>
                  <a:srgbClr val="2D2D37"/>
                </a:solidFill>
                <a:latin typeface="Aptos"/>
              </a:defRPr>
            </a:pPr>
            <a:r>
              <a:t>Future potential: verified healthcare information, healthcare resources and stronger human-review pathways.</a:t>
            </a:r>
          </a:p>
          <a:p>
            <a:pPr>
              <a:spcAft>
                <a:spcPts val="800"/>
              </a:spcAft>
              <a:defRPr sz="1800">
                <a:solidFill>
                  <a:srgbClr val="2D2D37"/>
                </a:solidFill>
                <a:latin typeface="Aptos"/>
              </a:defRPr>
            </a:pPr>
            <a:r>
              <a:t>Vision: Make trustworthy health navigation understandable and accessible to every woman — without replacing the healthcare professional.</a:t>
            </a:r>
          </a:p>
        </p:txBody>
      </p:sp>
      <p:sp>
        <p:nvSpPr>
          <p:cNvPr id="6" name="TextBox 5"/>
          <p:cNvSpPr txBox="1"/>
          <p:nvPr/>
        </p:nvSpPr>
        <p:spPr>
          <a:xfrm>
            <a:off x="502920" y="6510528"/>
            <a:ext cx="10972800" cy="182880"/>
          </a:xfrm>
          <a:prstGeom prst="rect">
            <a:avLst/>
          </a:prstGeom>
          <a:noFill/>
        </p:spPr>
        <p:txBody>
          <a:bodyPr wrap="none">
            <a:spAutoFit/>
          </a:bodyPr>
          <a:lstStyle/>
          <a:p>
            <a:pPr algn="r">
              <a:defRPr sz="800">
                <a:solidFill>
                  <a:srgbClr val="696973"/>
                </a:solidFill>
                <a:latin typeface="Aptos"/>
              </a:defRPr>
            </a:pPr>
            <a:r>
              <a:t>HerNext — Women’s Health Navigator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109728"/>
          </a:xfrm>
          <a:prstGeom prst="rect">
            <a:avLst/>
          </a:prstGeom>
          <a:solidFill>
            <a:srgbClr val="674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594360"/>
          </a:xfrm>
          <a:prstGeom prst="rect">
            <a:avLst/>
          </a:prstGeom>
          <a:noFill/>
        </p:spPr>
        <p:txBody>
          <a:bodyPr wrap="none">
            <a:spAutoFit/>
          </a:bodyPr>
          <a:lstStyle/>
          <a:p>
            <a:pPr>
              <a:defRPr sz="2800" b="1">
                <a:solidFill>
                  <a:srgbClr val="242D46"/>
                </a:solidFill>
                <a:latin typeface="Aptos Display"/>
              </a:defRPr>
            </a:pPr>
            <a:r>
              <a:t>Final Submission / Closing</a:t>
            </a:r>
          </a:p>
        </p:txBody>
      </p:sp>
      <p:sp>
        <p:nvSpPr>
          <p:cNvPr id="4" name="TextBox 3"/>
          <p:cNvSpPr txBox="1"/>
          <p:nvPr/>
        </p:nvSpPr>
        <p:spPr>
          <a:xfrm>
            <a:off x="530352" y="932688"/>
            <a:ext cx="10972800" cy="365760"/>
          </a:xfrm>
          <a:prstGeom prst="rect">
            <a:avLst/>
          </a:prstGeom>
          <a:noFill/>
        </p:spPr>
        <p:txBody>
          <a:bodyPr wrap="none">
            <a:spAutoFit/>
          </a:bodyPr>
          <a:lstStyle/>
          <a:p>
            <a:pPr>
              <a:defRPr sz="1400">
                <a:solidFill>
                  <a:srgbClr val="696973"/>
                </a:solidFill>
                <a:latin typeface="Aptos"/>
              </a:defRPr>
            </a:pPr>
            <a:r>
              <a:t>HerNext — From Health Uncertainty to the Right Next Step</a:t>
            </a:r>
          </a:p>
        </p:txBody>
      </p:sp>
      <p:sp>
        <p:nvSpPr>
          <p:cNvPr id="5" name="TextBox 4"/>
          <p:cNvSpPr txBox="1"/>
          <p:nvPr/>
        </p:nvSpPr>
        <p:spPr>
          <a:xfrm>
            <a:off x="594360" y="1298448"/>
            <a:ext cx="10972800" cy="5074920"/>
          </a:xfrm>
          <a:prstGeom prst="rect">
            <a:avLst/>
          </a:prstGeom>
          <a:noFill/>
        </p:spPr>
        <p:txBody>
          <a:bodyPr wrap="square" lIns="45720" rIns="45720">
            <a:spAutoFit/>
          </a:bodyPr>
          <a:lstStyle/>
          <a:p>
            <a:pPr>
              <a:spcAft>
                <a:spcPts val="800"/>
              </a:spcAft>
              <a:defRPr sz="1800">
                <a:solidFill>
                  <a:srgbClr val="2D2D37"/>
                </a:solidFill>
                <a:latin typeface="Aptos"/>
              </a:defRPr>
            </a:pPr>
            <a:r>
              <a:t>BEFORE: “I don’t know whether this matters.”</a:t>
            </a:r>
          </a:p>
          <a:p>
            <a:pPr>
              <a:spcAft>
                <a:spcPts val="800"/>
              </a:spcAft>
              <a:defRPr sz="1800">
                <a:solidFill>
                  <a:srgbClr val="2D2D37"/>
                </a:solidFill>
                <a:latin typeface="Aptos"/>
              </a:defRPr>
            </a:pPr>
            <a:r>
              <a:t>WITH HERNEXT: “I understand my concern.”</a:t>
            </a:r>
          </a:p>
          <a:p>
            <a:pPr>
              <a:spcAft>
                <a:spcPts val="800"/>
              </a:spcAft>
              <a:defRPr sz="1800">
                <a:solidFill>
                  <a:srgbClr val="2D2D37"/>
                </a:solidFill>
                <a:latin typeface="Aptos"/>
              </a:defRPr>
            </a:pPr>
            <a:r>
              <a:t>“I know my appropriate next step.”</a:t>
            </a:r>
          </a:p>
          <a:p>
            <a:pPr>
              <a:spcAft>
                <a:spcPts val="800"/>
              </a:spcAft>
              <a:defRPr sz="1800">
                <a:solidFill>
                  <a:srgbClr val="2D2D37"/>
                </a:solidFill>
                <a:latin typeface="Aptos"/>
              </a:defRPr>
            </a:pPr>
            <a:r>
              <a:t>“I know what to ask my healthcare professional.”</a:t>
            </a:r>
          </a:p>
          <a:p>
            <a:pPr>
              <a:spcAft>
                <a:spcPts val="800"/>
              </a:spcAft>
              <a:defRPr sz="1800">
                <a:solidFill>
                  <a:srgbClr val="2D2D37"/>
                </a:solidFill>
                <a:latin typeface="Aptos"/>
              </a:defRPr>
            </a:pPr>
            <a:r>
              <a:t>“I know when urgent help may be needed.”</a:t>
            </a:r>
          </a:p>
          <a:p>
            <a:pPr>
              <a:spcAft>
                <a:spcPts val="800"/>
              </a:spcAft>
              <a:defRPr sz="1800">
                <a:solidFill>
                  <a:srgbClr val="2D2D37"/>
                </a:solidFill>
                <a:latin typeface="Aptos"/>
              </a:defRPr>
            </a:pPr>
            <a:r>
              <a:t>Prototype link: [PASTE PARTYROCK LINK]</a:t>
            </a:r>
          </a:p>
          <a:p>
            <a:pPr>
              <a:spcAft>
                <a:spcPts val="800"/>
              </a:spcAft>
              <a:defRPr sz="1800">
                <a:solidFill>
                  <a:srgbClr val="2D2D37"/>
                </a:solidFill>
                <a:latin typeface="Aptos"/>
              </a:defRPr>
            </a:pPr>
            <a:r>
              <a:t>Submission link: [PASTE REQUIRED SUBMISSION LINK]</a:t>
            </a:r>
          </a:p>
          <a:p>
            <a:pPr>
              <a:spcAft>
                <a:spcPts val="800"/>
              </a:spcAft>
              <a:defRPr sz="1800">
                <a:solidFill>
                  <a:srgbClr val="2D2D37"/>
                </a:solidFill>
                <a:latin typeface="Aptos"/>
              </a:defRPr>
            </a:pPr>
            <a:r>
              <a:t>Thank You</a:t>
            </a:r>
          </a:p>
        </p:txBody>
      </p:sp>
      <p:sp>
        <p:nvSpPr>
          <p:cNvPr id="6" name="TextBox 5"/>
          <p:cNvSpPr txBox="1"/>
          <p:nvPr/>
        </p:nvSpPr>
        <p:spPr>
          <a:xfrm>
            <a:off x="502920" y="6510528"/>
            <a:ext cx="10972800" cy="182880"/>
          </a:xfrm>
          <a:prstGeom prst="rect">
            <a:avLst/>
          </a:prstGeom>
          <a:noFill/>
        </p:spPr>
        <p:txBody>
          <a:bodyPr wrap="none">
            <a:spAutoFit/>
          </a:bodyPr>
          <a:lstStyle/>
          <a:p>
            <a:pPr algn="r">
              <a:defRPr sz="800">
                <a:solidFill>
                  <a:srgbClr val="696973"/>
                </a:solidFill>
                <a:latin typeface="Aptos"/>
              </a:defRPr>
            </a:pPr>
            <a:r>
              <a:t>HerNext — Women’s Health Navigator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975</Words>
  <Application>Microsoft Office PowerPoint</Application>
  <DocSecurity>0</DocSecurity>
  <PresentationFormat>Widescreen</PresentationFormat>
  <Paragraphs>129</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jyoti nair</cp:lastModifiedBy>
  <cp:revision>1</cp:revision>
  <dcterms:created xsi:type="dcterms:W3CDTF">2026-08-05T13:27:50Z</dcterms:created>
  <dcterms:modified xsi:type="dcterms:W3CDTF">2026-08-05T13:32:26Z</dcterms:modified>
</cp:coreProperties>
</file>